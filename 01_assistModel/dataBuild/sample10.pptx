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00" r:id="rId1"/>
  </p:sldMasterIdLst>
  <p:notesMasterIdLst>
    <p:notesMasterId r:id="rId47"/>
  </p:notesMasterIdLst>
  <p:handoutMasterIdLst>
    <p:handoutMasterId r:id="rId48"/>
  </p:handoutMasterIdLst>
  <p:sldIdLst>
    <p:sldId id="497" r:id="rId2"/>
    <p:sldId id="498" r:id="rId3"/>
    <p:sldId id="499" r:id="rId4"/>
    <p:sldId id="501" r:id="rId5"/>
    <p:sldId id="502" r:id="rId6"/>
    <p:sldId id="503" r:id="rId7"/>
    <p:sldId id="504" r:id="rId8"/>
    <p:sldId id="505" r:id="rId9"/>
    <p:sldId id="506" r:id="rId10"/>
    <p:sldId id="507" r:id="rId11"/>
    <p:sldId id="508" r:id="rId12"/>
    <p:sldId id="509" r:id="rId13"/>
    <p:sldId id="510" r:id="rId14"/>
    <p:sldId id="512" r:id="rId15"/>
    <p:sldId id="513" r:id="rId16"/>
    <p:sldId id="514" r:id="rId17"/>
    <p:sldId id="515" r:id="rId18"/>
    <p:sldId id="516" r:id="rId19"/>
    <p:sldId id="517" r:id="rId20"/>
    <p:sldId id="518" r:id="rId21"/>
    <p:sldId id="520" r:id="rId22"/>
    <p:sldId id="519" r:id="rId23"/>
    <p:sldId id="541" r:id="rId24"/>
    <p:sldId id="542" r:id="rId25"/>
    <p:sldId id="543" r:id="rId26"/>
    <p:sldId id="544" r:id="rId27"/>
    <p:sldId id="521" r:id="rId28"/>
    <p:sldId id="522" r:id="rId29"/>
    <p:sldId id="523" r:id="rId30"/>
    <p:sldId id="524" r:id="rId31"/>
    <p:sldId id="525" r:id="rId32"/>
    <p:sldId id="526" r:id="rId33"/>
    <p:sldId id="528" r:id="rId34"/>
    <p:sldId id="527" r:id="rId35"/>
    <p:sldId id="530" r:id="rId36"/>
    <p:sldId id="529" r:id="rId37"/>
    <p:sldId id="531" r:id="rId38"/>
    <p:sldId id="532" r:id="rId39"/>
    <p:sldId id="533" r:id="rId40"/>
    <p:sldId id="534" r:id="rId41"/>
    <p:sldId id="535" r:id="rId42"/>
    <p:sldId id="536" r:id="rId43"/>
    <p:sldId id="537" r:id="rId44"/>
    <p:sldId id="538" r:id="rId45"/>
    <p:sldId id="540" r:id="rId46"/>
  </p:sldIdLst>
  <p:sldSz cx="9906000" cy="6858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72217F3-4C96-475D-9D19-F9D7188355C9}">
          <p14:sldIdLst/>
        </p14:section>
        <p14:section name="개요" id="{A3B9DA6D-75BD-4B17-A0FC-59DED6E9F45A}">
          <p14:sldIdLst/>
        </p14:section>
        <p14:section name="진단 결과 요약" id="{85BA93E5-6E72-4177-A141-A61FBB8E3DB2}">
          <p14:sldIdLst/>
        </p14:section>
        <p14:section name="전문가 진단" id="{487A9A63-73D1-4647-A647-557C9F3D4581}">
          <p14:sldIdLst/>
        </p14:section>
        <p14:section name="저축은행중앙회 소비자포털 메인" id="{0233A93C-AD3E-4D31-9D23-3EDC2F4BA4AC}">
          <p14:sldIdLst>
            <p14:sldId id="497"/>
            <p14:sldId id="498"/>
            <p14:sldId id="499"/>
            <p14:sldId id="501"/>
            <p14:sldId id="502"/>
          </p14:sldIdLst>
        </p14:section>
        <p14:section name="예적금 - 상품안내" id="{60BD1472-3DF0-4B16-80FB-25EAEEE33ABD}">
          <p14:sldIdLst>
            <p14:sldId id="503"/>
            <p14:sldId id="504"/>
            <p14:sldId id="505"/>
          </p14:sldIdLst>
        </p14:section>
        <p14:section name="대출 - 상품안내" id="{11873B91-03A5-4F0D-A47E-36629778FE61}">
          <p14:sldIdLst>
            <p14:sldId id="506"/>
            <p14:sldId id="507"/>
            <p14:sldId id="508"/>
            <p14:sldId id="509"/>
          </p14:sldIdLst>
        </p14:section>
        <p14:section name="간편결제 - 체크카드 및 간편결제 - 기타상품 - 상품안내" id="{48090CDD-FEDB-45F1-B1D9-E397961665EB}">
          <p14:sldIdLst>
            <p14:sldId id="510"/>
          </p14:sldIdLst>
        </p14:section>
        <p14:section name="저축은행 - KB카드 - 기타상품 - 상품안내" id="{107D023A-CEC6-46B1-B4E5-0AB8178AF1D9}">
          <p14:sldIdLst>
            <p14:sldId id="512"/>
            <p14:sldId id="513"/>
            <p14:sldId id="514"/>
            <p14:sldId id="515"/>
          </p14:sldIdLst>
        </p14:section>
        <p14:section name="예적금 - 거래단계별 정보 - 상품안내" id="{D0FBBFEA-DE57-4BE1-A3A4-EDA547EEBCAE}">
          <p14:sldIdLst>
            <p14:sldId id="516"/>
          </p14:sldIdLst>
        </p14:section>
        <p14:section name="예금 - 금리보기" id="{9F063E0C-3684-4EB6-9C3E-E2BA2D96420F}">
          <p14:sldIdLst>
            <p14:sldId id="517"/>
            <p14:sldId id="518"/>
            <p14:sldId id="520"/>
            <p14:sldId id="519"/>
            <p14:sldId id="541"/>
            <p14:sldId id="542"/>
            <p14:sldId id="543"/>
            <p14:sldId id="544"/>
          </p14:sldIdLst>
        </p14:section>
        <p14:section name="저축은행 찾기 - 소비자정보" id="{717DA5F0-E71D-4334-ACBE-8EEFD7C6A792}">
          <p14:sldIdLst>
            <p14:sldId id="521"/>
            <p14:sldId id="522"/>
          </p14:sldIdLst>
        </p14:section>
        <p14:section name="법률 등 -법규정보 - 소비자정보" id="{509ACE2D-0610-44DD-A5C9-D76E82012510}">
          <p14:sldIdLst>
            <p14:sldId id="523"/>
          </p14:sldIdLst>
        </p14:section>
        <p14:section name="표준약관 - 법규정보 - 소비자정보" id="{4450A023-0E80-4BF3-88AC-3761E8877A71}">
          <p14:sldIdLst>
            <p14:sldId id="524"/>
          </p14:sldIdLst>
        </p14:section>
        <p14:section name="시니어소식 - 시니어코너 - 소비자정보" id="{E4F4ED1B-AFE9-4502-850A-47064622657C}">
          <p14:sldIdLst>
            <p14:sldId id="525"/>
          </p14:sldIdLst>
        </p14:section>
        <p14:section name="보이스피싱예방 - 소비자정보" id="{2C4DEB00-6919-499C-A95F-1EDF2F5C6C9F}">
          <p14:sldIdLst>
            <p14:sldId id="526"/>
          </p14:sldIdLst>
        </p14:section>
        <p14:section name="홍보마당 - 금융교육정보 - 소비자정보" id="{6CE91F9D-562C-475C-8B8C-7D6ECB1C1D1E}">
          <p14:sldIdLst>
            <p14:sldId id="528"/>
            <p14:sldId id="527"/>
            <p14:sldId id="530"/>
          </p14:sldIdLst>
        </p14:section>
        <p14:section name="통계현황 - 통계정보 - 소비자정보" id="{1830C50F-2358-49D2-839C-69798AE1B7F2}">
          <p14:sldIdLst>
            <p14:sldId id="529"/>
          </p14:sldIdLst>
        </p14:section>
        <p14:section name="FAQ - 고객센터 - 소비자정보" id="{FFDC7B1A-5957-49DC-8063-82EF587D2DF1}">
          <p14:sldIdLst>
            <p14:sldId id="531"/>
            <p14:sldId id="532"/>
          </p14:sldIdLst>
        </p14:section>
        <p14:section name="문의하기 - 고객센터 - 소비자정보" id="{F65C58E2-9AB5-47C9-BD44-0FCF9FEF0905}">
          <p14:sldIdLst>
            <p14:sldId id="533"/>
            <p14:sldId id="534"/>
          </p14:sldIdLst>
        </p14:section>
        <p14:section name="공시정보" id="{2FFDC60D-2BD6-4AE3-838B-9FA3E2309AE7}">
          <p14:sldIdLst>
            <p14:sldId id="535"/>
            <p14:sldId id="536"/>
            <p14:sldId id="537"/>
            <p14:sldId id="538"/>
          </p14:sldIdLst>
        </p14:section>
        <p14:section name="검색 결과" id="{E15D79C6-2627-4076-A06F-B303F6FF4501}">
          <p14:sldIdLst>
            <p14:sldId id="540"/>
          </p14:sldIdLst>
        </p14:section>
        <p14:section name="끝 표지" id="{DF382B51-B52E-4800-AABB-5C5B2BC0BDB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Giyeon" initials="KG" lastIdx="16" clrIdx="0">
    <p:extLst>
      <p:ext uri="{19B8F6BF-5375-455C-9EA6-DF929625EA0E}">
        <p15:presenceInfo xmlns:p15="http://schemas.microsoft.com/office/powerpoint/2012/main" userId="eae28d0ded6e689f" providerId="Windows Live"/>
      </p:ext>
    </p:extLst>
  </p:cmAuthor>
  <p:cmAuthor id="2" name="신봄" initials="신" lastIdx="1" clrIdx="1">
    <p:extLst>
      <p:ext uri="{19B8F6BF-5375-455C-9EA6-DF929625EA0E}">
        <p15:presenceInfo xmlns:p15="http://schemas.microsoft.com/office/powerpoint/2012/main" userId="S::shinbom@snclabcorp.onmicrosoft.com::e4d50489-b8a5-4737-bfbb-f3618e9113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7C"/>
    <a:srgbClr val="A0B3A5"/>
    <a:srgbClr val="C9D1CD"/>
    <a:srgbClr val="D83933"/>
    <a:srgbClr val="F5F6F8"/>
    <a:srgbClr val="F0F2F5"/>
    <a:srgbClr val="F9F9F9"/>
    <a:srgbClr val="D4D8F2"/>
    <a:srgbClr val="E6550D"/>
    <a:srgbClr val="F03B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6395" autoAdjust="0"/>
  </p:normalViewPr>
  <p:slideViewPr>
    <p:cSldViewPr showGuides="1">
      <p:cViewPr varScale="1">
        <p:scale>
          <a:sx n="110" d="100"/>
          <a:sy n="110" d="100"/>
        </p:scale>
        <p:origin x="1242" y="78"/>
      </p:cViewPr>
      <p:guideLst/>
    </p:cSldViewPr>
  </p:slideViewPr>
  <p:outlineViewPr>
    <p:cViewPr>
      <p:scale>
        <a:sx n="33" d="100"/>
        <a:sy n="33" d="100"/>
      </p:scale>
      <p:origin x="0" y="-21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1" d="100"/>
          <a:sy n="81" d="100"/>
        </p:scale>
        <p:origin x="3138" y="8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35BE6EE-CA60-4322-A1D5-4F412874D7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8B7296-2E1B-4599-BA95-879B237129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31B5F-6633-49D3-B076-BCD6876A7ED6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41D0E1-955F-4D62-97C0-BA102859C0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FE3B44-5F7C-477E-9EDA-A7A7B25917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2889-ADBF-4C25-AB51-EEFA3E439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46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r">
              <a:defRPr sz="1200"/>
            </a:lvl1pPr>
          </a:lstStyle>
          <a:p>
            <a:fld id="{83535A04-8F53-42F0-BE68-2A0C56FA688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0" rIns="91420" bIns="4571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9"/>
            <a:ext cx="5445760" cy="3913614"/>
          </a:xfrm>
          <a:prstGeom prst="rect">
            <a:avLst/>
          </a:prstGeom>
        </p:spPr>
        <p:txBody>
          <a:bodyPr vert="horz" lIns="91420" tIns="45710" rIns="91420" bIns="4571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r">
              <a:defRPr sz="1200"/>
            </a:lvl1pPr>
          </a:lstStyle>
          <a:p>
            <a:fld id="{649C5E89-AF82-449E-973A-8741335DFE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0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F08ABE-3711-4C3A-BF09-AFEA62CD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8923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9148802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7967625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3" name="설명">
            <a:extLst>
              <a:ext uri="{FF2B5EF4-FFF2-40B4-BE49-F238E27FC236}">
                <a16:creationId xmlns:a16="http://schemas.microsoft.com/office/drawing/2014/main" id="{196E4C04-B516-4B97-87D2-D5D6CFC65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8F96B8-F177-415C-B721-D1B57FD87052}"/>
              </a:ext>
            </a:extLst>
          </p:cNvPr>
          <p:cNvSpPr txBox="1"/>
          <p:nvPr userDrawn="1"/>
        </p:nvSpPr>
        <p:spPr>
          <a:xfrm>
            <a:off x="-1674019" y="5256029"/>
            <a:ext cx="1266550" cy="1233671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7)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코드가 길어져서 뒷장으로 넘어갈 때는 하단 라인이 맞닿도록 하고</a:t>
            </a: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다음 장은 레이아웃 변경</a:t>
            </a:r>
            <a:endParaRPr lang="en-US" altLang="ko-KR" sz="1050" b="1" spc="-6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FE64C-0CE9-4B4C-BEB1-C461E3C20C17}"/>
              </a:ext>
            </a:extLst>
          </p:cNvPr>
          <p:cNvSpPr txBox="1"/>
          <p:nvPr userDrawn="1"/>
        </p:nvSpPr>
        <p:spPr>
          <a:xfrm>
            <a:off x="-1689100" y="794241"/>
            <a:ext cx="1238151" cy="910506"/>
          </a:xfrm>
          <a:prstGeom prst="rect">
            <a:avLst/>
          </a:prstGeom>
          <a:noFill/>
        </p:spPr>
        <p:txBody>
          <a:bodyPr wrap="square" lIns="0" tIns="0" rIns="10800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1)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 err="1">
                <a:latin typeface="+mn-ea"/>
              </a:rPr>
              <a:t>플레이스</a:t>
            </a:r>
            <a:r>
              <a:rPr lang="ko-KR" altLang="en-US" sz="1050" b="1" spc="-60" dirty="0">
                <a:latin typeface="+mn-ea"/>
              </a:rPr>
              <a:t> 홀더를 참조하여 작성</a:t>
            </a: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※</a:t>
            </a:r>
            <a:r>
              <a:rPr lang="ko-KR" altLang="en-US" sz="1050" b="1" spc="-60" dirty="0">
                <a:latin typeface="+mn-ea"/>
              </a:rPr>
              <a:t>빈 값인 항목이 없어야 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FBFD49-E053-4ABC-B1B8-E2DAC09E6000}"/>
              </a:ext>
            </a:extLst>
          </p:cNvPr>
          <p:cNvSpPr txBox="1"/>
          <p:nvPr userDrawn="1"/>
        </p:nvSpPr>
        <p:spPr>
          <a:xfrm>
            <a:off x="-1717499" y="2609724"/>
            <a:ext cx="1266550" cy="2085186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5)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하단 섹션 타이틀은 </a:t>
            </a:r>
            <a:r>
              <a:rPr lang="en-US" altLang="ko-KR" sz="1050" b="1" spc="-60" dirty="0">
                <a:latin typeface="+mn-ea"/>
              </a:rPr>
              <a:t>'</a:t>
            </a:r>
            <a:r>
              <a:rPr lang="ko-KR" altLang="en-US" sz="1050" b="1" spc="-60" dirty="0">
                <a:latin typeface="+mn-ea"/>
              </a:rPr>
              <a:t>텍스트 상자</a:t>
            </a:r>
            <a:r>
              <a:rPr lang="en-US" altLang="ko-KR" sz="1050" b="1" spc="-60" dirty="0">
                <a:latin typeface="+mn-ea"/>
              </a:rPr>
              <a:t>' </a:t>
            </a:r>
            <a:r>
              <a:rPr lang="ko-KR" altLang="en-US" sz="1050" b="1" spc="-60" dirty="0">
                <a:latin typeface="+mn-ea"/>
              </a:rPr>
              <a:t>삽입 후 기본 스타일 사용</a:t>
            </a: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6) 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코드 작성용 박스는 </a:t>
            </a:r>
            <a:r>
              <a:rPr lang="en-US" altLang="ko-KR" sz="1050" b="1" spc="-60" dirty="0">
                <a:latin typeface="+mn-ea"/>
              </a:rPr>
              <a:t>'</a:t>
            </a:r>
            <a:r>
              <a:rPr lang="ko-KR" altLang="en-US" sz="1050" b="1" spc="-60" dirty="0">
                <a:latin typeface="+mn-ea"/>
              </a:rPr>
              <a:t>직사각형</a:t>
            </a:r>
            <a:r>
              <a:rPr lang="en-US" altLang="ko-KR" sz="1050" b="1" spc="-60" dirty="0">
                <a:latin typeface="+mn-ea"/>
              </a:rPr>
              <a:t>' </a:t>
            </a:r>
            <a:r>
              <a:rPr lang="ko-KR" altLang="en-US" sz="1050" b="1" spc="-60" dirty="0">
                <a:latin typeface="+mn-ea"/>
              </a:rPr>
              <a:t>삽입</a:t>
            </a: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너비</a:t>
            </a:r>
            <a:r>
              <a:rPr lang="en-US" altLang="ko-KR" sz="1050" b="1" spc="-60" dirty="0">
                <a:latin typeface="+mn-ea"/>
              </a:rPr>
              <a:t> = 11.4cm</a:t>
            </a:r>
          </a:p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Tab </a:t>
            </a:r>
            <a:r>
              <a:rPr lang="ko-KR" altLang="en-US" sz="1050" b="1" spc="-60" dirty="0">
                <a:latin typeface="+mn-ea"/>
              </a:rPr>
              <a:t>키를 누르면 들여쓰기 가능</a:t>
            </a:r>
            <a:endParaRPr lang="en-US" altLang="ko-KR" sz="1050" b="1" spc="-60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15E4B1-89E8-45B4-BA72-72E8BD6C564B}"/>
              </a:ext>
            </a:extLst>
          </p:cNvPr>
          <p:cNvSpPr txBox="1"/>
          <p:nvPr userDrawn="1"/>
        </p:nvSpPr>
        <p:spPr>
          <a:xfrm>
            <a:off x="10417450" y="1256642"/>
            <a:ext cx="964131" cy="697627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2) 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필수</a:t>
            </a:r>
            <a:r>
              <a:rPr lang="en-US" altLang="ko-KR" sz="1050" b="1" spc="-60" dirty="0">
                <a:latin typeface="+mn-ea"/>
              </a:rPr>
              <a:t>/</a:t>
            </a:r>
            <a:r>
              <a:rPr lang="ko-KR" altLang="en-US" sz="1050" b="1" spc="-60" dirty="0">
                <a:latin typeface="+mn-ea"/>
              </a:rPr>
              <a:t>권장은 레이아웃 변경으로 적용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727037-35BC-4C8E-9D98-81912C5E80D4}"/>
              </a:ext>
            </a:extLst>
          </p:cNvPr>
          <p:cNvSpPr txBox="1"/>
          <p:nvPr userDrawn="1"/>
        </p:nvSpPr>
        <p:spPr>
          <a:xfrm>
            <a:off x="10585549" y="2307689"/>
            <a:ext cx="1238151" cy="1233671"/>
          </a:xfrm>
          <a:prstGeom prst="rect">
            <a:avLst/>
          </a:prstGeom>
          <a:noFill/>
        </p:spPr>
        <p:txBody>
          <a:bodyPr wrap="square" lIns="0" tIns="0" rIns="10800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3)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이미지에서 잘못된 부분 표시할 때</a:t>
            </a:r>
            <a:r>
              <a:rPr lang="en-US" altLang="ko-KR" sz="1050" b="1" spc="-60" dirty="0">
                <a:latin typeface="+mn-ea"/>
              </a:rPr>
              <a:t> </a:t>
            </a:r>
            <a:br>
              <a:rPr lang="en-US" altLang="ko-KR" sz="1050" b="1" spc="-60" dirty="0">
                <a:latin typeface="+mn-ea"/>
              </a:rPr>
            </a:br>
            <a:r>
              <a:rPr lang="ko-KR" altLang="en-US" sz="1050" b="1" spc="-60" dirty="0">
                <a:latin typeface="+mn-ea"/>
              </a:rPr>
              <a:t>라인 굵기</a:t>
            </a:r>
            <a:r>
              <a:rPr lang="en-US" altLang="ko-KR" sz="1050" b="1" spc="-60" dirty="0">
                <a:latin typeface="+mn-ea"/>
              </a:rPr>
              <a:t> = 2pt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화살표는 생성했을 때</a:t>
            </a:r>
            <a:r>
              <a:rPr lang="en-US" altLang="ko-KR" sz="1050" b="1" spc="-60" dirty="0">
                <a:latin typeface="+mn-ea"/>
              </a:rPr>
              <a:t> </a:t>
            </a:r>
            <a:r>
              <a:rPr lang="ko-KR" altLang="en-US" sz="1050" b="1" spc="-60" dirty="0">
                <a:latin typeface="+mn-ea"/>
              </a:rPr>
              <a:t>기본 스타일 그대로 사용</a:t>
            </a:r>
            <a:endParaRPr lang="en-US" altLang="ko-KR" sz="1050" b="1" spc="-60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7B0D9E-C106-4C60-AD6D-EBAC881973F9}"/>
              </a:ext>
            </a:extLst>
          </p:cNvPr>
          <p:cNvSpPr txBox="1"/>
          <p:nvPr userDrawn="1"/>
        </p:nvSpPr>
        <p:spPr>
          <a:xfrm>
            <a:off x="10581064" y="4173174"/>
            <a:ext cx="1238151" cy="910506"/>
          </a:xfrm>
          <a:prstGeom prst="rect">
            <a:avLst/>
          </a:prstGeom>
          <a:noFill/>
        </p:spPr>
        <p:txBody>
          <a:bodyPr wrap="square" lIns="0" tIns="0" rIns="10800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4)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모바일 이미지는 </a:t>
            </a:r>
            <a:r>
              <a:rPr lang="en-US" altLang="ko-KR" sz="1050" b="1" spc="-60" dirty="0">
                <a:latin typeface="+mn-ea"/>
              </a:rPr>
              <a:t>iPhone 6/7/8 </a:t>
            </a:r>
            <a:r>
              <a:rPr lang="ko-KR" altLang="en-US" sz="1050" b="1" spc="-60" dirty="0">
                <a:latin typeface="+mn-ea"/>
              </a:rPr>
              <a:t>사이즈</a:t>
            </a: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높이 </a:t>
            </a:r>
            <a:r>
              <a:rPr lang="en-US" altLang="ko-KR" sz="1050" b="1" spc="-60" dirty="0">
                <a:latin typeface="+mn-ea"/>
              </a:rPr>
              <a:t>10.2cm</a:t>
            </a:r>
            <a:r>
              <a:rPr lang="ko-KR" altLang="en-US" sz="1050" b="1" spc="-60" dirty="0">
                <a:latin typeface="+mn-ea"/>
              </a:rPr>
              <a:t>로 통일</a:t>
            </a:r>
            <a:endParaRPr lang="en-US" altLang="ko-KR" sz="1050" b="1" spc="-60" dirty="0">
              <a:latin typeface="+mn-ea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BC65337-55F2-4638-A243-6E9FDF970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8098"/>
          <a:stretch/>
        </p:blipFill>
        <p:spPr>
          <a:xfrm>
            <a:off x="10921172" y="6595765"/>
            <a:ext cx="2209524" cy="1713566"/>
          </a:xfrm>
          <a:prstGeom prst="rect">
            <a:avLst/>
          </a:prstGeom>
        </p:spPr>
      </p:pic>
      <p:sp>
        <p:nvSpPr>
          <p:cNvPr id="32" name="타원 31">
            <a:extLst>
              <a:ext uri="{FF2B5EF4-FFF2-40B4-BE49-F238E27FC236}">
                <a16:creationId xmlns:a16="http://schemas.microsoft.com/office/drawing/2014/main" id="{4F517BA2-09F3-4B88-B956-569FA772583F}"/>
              </a:ext>
            </a:extLst>
          </p:cNvPr>
          <p:cNvSpPr>
            <a:spLocks noChangeAspect="1"/>
          </p:cNvSpPr>
          <p:nvPr userDrawn="1"/>
        </p:nvSpPr>
        <p:spPr>
          <a:xfrm>
            <a:off x="12657518" y="6952827"/>
            <a:ext cx="229414" cy="22941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7B74EDBC-3479-45CA-ABFC-44D89478CFDD}"/>
              </a:ext>
            </a:extLst>
          </p:cNvPr>
          <p:cNvSpPr>
            <a:spLocks noChangeAspect="1"/>
          </p:cNvSpPr>
          <p:nvPr userDrawn="1"/>
        </p:nvSpPr>
        <p:spPr>
          <a:xfrm>
            <a:off x="11796520" y="6952827"/>
            <a:ext cx="229414" cy="22941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82681E-C6C9-4DEC-A34C-01A3CDD43DFC}"/>
              </a:ext>
            </a:extLst>
          </p:cNvPr>
          <p:cNvSpPr txBox="1"/>
          <p:nvPr userDrawn="1"/>
        </p:nvSpPr>
        <p:spPr>
          <a:xfrm>
            <a:off x="11292151" y="6029801"/>
            <a:ext cx="1238151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개선 방안 색상</a:t>
            </a:r>
            <a:endParaRPr lang="en-US" altLang="ko-KR" sz="1050" b="1" spc="-60" dirty="0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F3E8D6-C5E4-4AA9-B1DB-102BD074794D}"/>
              </a:ext>
            </a:extLst>
          </p:cNvPr>
          <p:cNvSpPr txBox="1"/>
          <p:nvPr userDrawn="1"/>
        </p:nvSpPr>
        <p:spPr>
          <a:xfrm>
            <a:off x="12352187" y="6336443"/>
            <a:ext cx="845674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오류 색상</a:t>
            </a:r>
            <a:endParaRPr lang="en-US" altLang="ko-KR" sz="1050" b="1" spc="-60" dirty="0"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284F220-5162-464D-B93B-080518B926BE}"/>
              </a:ext>
            </a:extLst>
          </p:cNvPr>
          <p:cNvCxnSpPr>
            <a:cxnSpLocks/>
            <a:stCxn id="33" idx="0"/>
            <a:endCxn id="34" idx="2"/>
          </p:cNvCxnSpPr>
          <p:nvPr userDrawn="1"/>
        </p:nvCxnSpPr>
        <p:spPr>
          <a:xfrm flipV="1">
            <a:off x="11911227" y="6191384"/>
            <a:ext cx="0" cy="761443"/>
          </a:xfrm>
          <a:prstGeom prst="line">
            <a:avLst/>
          </a:prstGeom>
          <a:ln w="3175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DB8E506-F830-4445-B7BD-B4D36132949B}"/>
              </a:ext>
            </a:extLst>
          </p:cNvPr>
          <p:cNvCxnSpPr>
            <a:cxnSpLocks/>
            <a:endCxn id="35" idx="2"/>
          </p:cNvCxnSpPr>
          <p:nvPr userDrawn="1"/>
        </p:nvCxnSpPr>
        <p:spPr>
          <a:xfrm flipV="1">
            <a:off x="12772225" y="6498026"/>
            <a:ext cx="2799" cy="454802"/>
          </a:xfrm>
          <a:prstGeom prst="line">
            <a:avLst/>
          </a:prstGeom>
          <a:ln w="3175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2689D359-5C3D-4772-A1D4-5D7E54F79E28}"/>
              </a:ext>
            </a:extLst>
          </p:cNvPr>
          <p:cNvSpPr>
            <a:spLocks noChangeAspect="1"/>
          </p:cNvSpPr>
          <p:nvPr userDrawn="1"/>
        </p:nvSpPr>
        <p:spPr>
          <a:xfrm>
            <a:off x="10940770" y="7614825"/>
            <a:ext cx="229414" cy="22941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C08C20-DC7D-40AC-93AC-8DEC9116A861}"/>
              </a:ext>
            </a:extLst>
          </p:cNvPr>
          <p:cNvSpPr txBox="1"/>
          <p:nvPr userDrawn="1"/>
        </p:nvSpPr>
        <p:spPr>
          <a:xfrm>
            <a:off x="10436401" y="5601358"/>
            <a:ext cx="1238151" cy="3231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오류 이미지 선 색상 </a:t>
            </a:r>
            <a:r>
              <a:rPr lang="en-US" altLang="ko-KR" sz="1050" b="1" spc="-60" dirty="0">
                <a:latin typeface="+mn-ea"/>
              </a:rPr>
              <a:t>(0.25pt)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F53E505-1403-4986-AEB5-E494F201DB2B}"/>
              </a:ext>
            </a:extLst>
          </p:cNvPr>
          <p:cNvCxnSpPr>
            <a:cxnSpLocks/>
            <a:stCxn id="38" idx="0"/>
            <a:endCxn id="39" idx="2"/>
          </p:cNvCxnSpPr>
          <p:nvPr userDrawn="1"/>
        </p:nvCxnSpPr>
        <p:spPr>
          <a:xfrm flipV="1">
            <a:off x="11055477" y="5924523"/>
            <a:ext cx="0" cy="1690302"/>
          </a:xfrm>
          <a:prstGeom prst="line">
            <a:avLst/>
          </a:prstGeom>
          <a:ln w="3175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113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9360794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82839133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531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5072346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152762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D780F0F9-EB12-4D9A-9655-CF42605225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86841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8839828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41455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373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879235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□수정 필수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95316987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F81531E6-005D-4C3F-B48C-19F54610EC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389911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866869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□수정 필수 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35779353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971E1D3C-7EA5-4003-B239-30BD61B622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54297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5010" y="444925"/>
            <a:ext cx="6436800" cy="2631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lvl="0" defTabSz="45720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49D477C1-B80A-436A-873B-8939B1660757}"/>
              </a:ext>
            </a:extLst>
          </p:cNvPr>
          <p:cNvSpPr txBox="1">
            <a:spLocks/>
          </p:cNvSpPr>
          <p:nvPr userDrawn="1"/>
        </p:nvSpPr>
        <p:spPr>
          <a:xfrm>
            <a:off x="6825000" y="127974"/>
            <a:ext cx="2669076" cy="205025"/>
          </a:xfrm>
          <a:prstGeom prst="rect">
            <a:avLst/>
          </a:prstGeom>
        </p:spPr>
        <p:txBody>
          <a:bodyPr lIns="0" rIns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latin typeface="+mn-ea"/>
                <a:ea typeface="+mn-ea"/>
              </a:rPr>
              <a:t>저축은행중앙회 소비자 포털 웹 접근성 진단 보고서 </a:t>
            </a:r>
            <a:fld id="{57DCFE9F-B2B4-47BC-97BE-9C043A2ED687}" type="slidenum">
              <a:rPr lang="en-US" altLang="ko-KR" sz="8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defTabSz="914400" latinLnBrk="1"/>
              <a:t>‹#›</a:t>
            </a:fld>
            <a:r>
              <a:rPr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sz="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080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6" r:id="rId2"/>
    <p:sldLayoutId id="2147483717" r:id="rId3"/>
    <p:sldLayoutId id="2147483715" r:id="rId4"/>
    <p:sldLayoutId id="2147483718" r:id="rId5"/>
    <p:sldLayoutId id="2147483719" r:id="rId6"/>
    <p:sldLayoutId id="2147483720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1900" b="1" kern="1200" spc="-150" dirty="0">
          <a:solidFill>
            <a:schemeClr val="tx1">
              <a:lumMod val="95000"/>
              <a:lumOff val="5000"/>
            </a:schemeClr>
          </a:solidFill>
          <a:latin typeface="+mn-ea"/>
          <a:ea typeface="+mn-ea"/>
          <a:cs typeface="+mn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2" userDrawn="1">
          <p15:clr>
            <a:srgbClr val="F26B43"/>
          </p15:clr>
        </p15:guide>
        <p15:guide id="2" pos="398" userDrawn="1">
          <p15:clr>
            <a:srgbClr val="F26B43"/>
          </p15:clr>
        </p15:guide>
        <p15:guide id="3" pos="5842" userDrawn="1">
          <p15:clr>
            <a:srgbClr val="F26B43"/>
          </p15:clr>
        </p15:guide>
        <p15:guide id="4" pos="5978" userDrawn="1">
          <p15:clr>
            <a:srgbClr val="F26B43"/>
          </p15:clr>
        </p15:guide>
        <p15:guide id="5" pos="3120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2" orient="horz" pos="5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C1DD677-85F0-4B21-A292-FE243E593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00" y="3479990"/>
            <a:ext cx="4103999" cy="174995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https://www.fsb.or.kr/cps_index.act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9. (</a:t>
            </a:r>
            <a:r>
              <a:rPr lang="ko-KR" altLang="en-US"/>
              <a:t>초점 이동</a:t>
            </a:r>
            <a:r>
              <a:rPr lang="en-US" altLang="ko-KR"/>
              <a:t>) </a:t>
            </a:r>
            <a:r>
              <a:rPr lang="ko-KR" altLang="en-US"/>
              <a:t>키보드에 의한 초점은 논리적으로 이동해야 하며 시각적으로 구별할 수 있어야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9-2 </a:t>
            </a:r>
            <a:r>
              <a:rPr lang="ko-KR" altLang="en-US"/>
              <a:t>초점 또는 키보드의 위치를 나타내는 요소가 시각적으로 표시되지 않은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959"/>
          </a:xfrm>
        </p:spPr>
        <p:txBody>
          <a:bodyPr/>
          <a:lstStyle/>
          <a:p>
            <a:r>
              <a:rPr lang="ko-KR" altLang="en-US" dirty="0"/>
              <a:t>키보드의 초점을 시각적으로 명확하게 구분할 수 있도록 수정해야 함</a:t>
            </a:r>
            <a:endParaRPr lang="en-US" altLang="ko-KR" dirty="0"/>
          </a:p>
          <a:p>
            <a:r>
              <a:rPr lang="en-US" altLang="ko-KR" b="1" dirty="0">
                <a:solidFill>
                  <a:schemeClr val="accent5"/>
                </a:solidFill>
              </a:rPr>
              <a:t>IE</a:t>
            </a:r>
            <a:r>
              <a:rPr lang="ko-KR" altLang="en-US" b="1" dirty="0">
                <a:solidFill>
                  <a:schemeClr val="accent5"/>
                </a:solidFill>
              </a:rPr>
              <a:t>에서 초점이 잘못 나타나고 있음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3090784"/>
            <a:ext cx="4104000" cy="3130308"/>
            <a:chOff x="631825" y="4319397"/>
            <a:chExt cx="4104000" cy="313030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  <a:r>
                <a:rPr lang="en-US" altLang="ko-KR" sz="900" dirty="0"/>
                <a:t>: JavaScript(common.js : 317)</a:t>
              </a:r>
              <a:r>
                <a:rPr lang="ko-KR" altLang="en-US" sz="900" dirty="0"/>
                <a:t> 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291910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option.onInit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= function(swiper)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setDisabled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(swiper);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if ( 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option.loop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== true 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var 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slides_length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= 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swiper.slides.length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$(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swiper.slides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[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slides_length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- 1]).find('a,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button').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attr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tabindex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', -1);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$(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swiper.slides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[0]).find('a, button').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attr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tabindex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', -1);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};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if ($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fractionCurrent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&amp;&amp; $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fractionCurrent.length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){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	$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fractionCurrent.text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(swiper.activeLoopIndex+1);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}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if (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typeof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onInit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=== 'function')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onInit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(swiper);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}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};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&lt;!-- 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개선안 이어서 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--&gt;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7EAA99-E5C9-47AE-8715-60E3D536504B}"/>
              </a:ext>
            </a:extLst>
          </p:cNvPr>
          <p:cNvSpPr/>
          <p:nvPr/>
        </p:nvSpPr>
        <p:spPr>
          <a:xfrm>
            <a:off x="5252766" y="3818389"/>
            <a:ext cx="3882699" cy="14616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C026531-C356-42C1-A0DE-AFE46451CA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13538" y="3609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B7E8FC6-9BF9-4799-A90B-CEDDEC9BD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52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https://www.fsb.or.kr/cps_index.act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9. (</a:t>
            </a:r>
            <a:r>
              <a:rPr lang="ko-KR" altLang="en-US"/>
              <a:t>초점 이동</a:t>
            </a:r>
            <a:r>
              <a:rPr lang="en-US" altLang="ko-KR"/>
              <a:t>) </a:t>
            </a:r>
            <a:r>
              <a:rPr lang="ko-KR" altLang="en-US"/>
              <a:t>키보드에 의한 초점은 논리적으로 이동해야 하며 시각적으로 구별할 수 있어야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9-2 </a:t>
            </a:r>
            <a:r>
              <a:rPr lang="ko-KR" altLang="en-US"/>
              <a:t>초점 또는 키보드의 위치를 나타내는 요소가 시각적으로 표시되지 않은 경우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2100617"/>
            <a:ext cx="4104000" cy="3265858"/>
            <a:chOff x="631825" y="4319397"/>
            <a:chExt cx="4104000" cy="326585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  <a:r>
                <a:rPr lang="en-US" altLang="ko-KR" sz="900" dirty="0"/>
                <a:t>: JavaScript(common.js : 449)</a:t>
              </a:r>
              <a:r>
                <a:rPr lang="ko-KR" altLang="en-US" sz="900" dirty="0"/>
                <a:t> 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305465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// swiper focus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var 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shift_key_status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= false;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$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doc.on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keydown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', function (e)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if(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e.keyCode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== 16)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shift_key_status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= true;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}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});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$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doc.on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keyup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', function (e)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if(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e.keyCode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== 16)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shift_key_status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= false;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}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});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$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doc.on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focus.swiper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', '.swiper-object', function(e)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var $this = $(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e.target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var $wrap = $this.is('.swiper-object')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	? $this</a:t>
              </a: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  <a:p>
              <a:pPr algn="ctr" defTabSz="144000">
                <a:lnSpc>
                  <a:spcPct val="110000"/>
                </a:lnSpc>
              </a:pP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&lt;!-- 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개선안 이어서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--&gt;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9676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https://www.fsb.or.kr/cps_index.act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9. (</a:t>
            </a:r>
            <a:r>
              <a:rPr lang="ko-KR" altLang="en-US"/>
              <a:t>초점 이동</a:t>
            </a:r>
            <a:r>
              <a:rPr lang="en-US" altLang="ko-KR"/>
              <a:t>) </a:t>
            </a:r>
            <a:r>
              <a:rPr lang="ko-KR" altLang="en-US"/>
              <a:t>키보드에 의한 초점은 논리적으로 이동해야 하며 시각적으로 구별할 수 있어야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9-2 </a:t>
            </a:r>
            <a:r>
              <a:rPr lang="ko-KR" altLang="en-US"/>
              <a:t>초점 또는 키보드의 위치를 나타내는 요소가 시각적으로 표시되지 않은 경우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2100617"/>
            <a:ext cx="4104000" cy="4213682"/>
            <a:chOff x="631825" y="4319397"/>
            <a:chExt cx="4104000" cy="42136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  <a:r>
                <a:rPr lang="en-US" altLang="ko-KR" sz="900" dirty="0"/>
                <a:t>: JavaScript(common.js : 504)</a:t>
              </a:r>
              <a:r>
                <a:rPr lang="ko-KR" altLang="en-US" sz="900" dirty="0"/>
                <a:t> 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4002479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if (!(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containerOffset.left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- 1 &lt;=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itemOffset.left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&amp;&amp;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containerOffset.left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+ 1 + $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container.outerWidth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() &gt;=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itemOffset.left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+ $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currentItem.outerWidth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() &amp;&amp;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containerOffset.top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- 1 &lt;=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itemOffset.top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&amp;&amp;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containerOffset.top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+ 1 + $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container.outerHeight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() &gt;= 	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itemOffset.top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+ $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currentItem.outerHeight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()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))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var agent = 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navigator.userAgent.toLowerCase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if ( (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navigator.appName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== 'Netscape' &amp;&amp;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agent.indexOf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('trident') != -1) || (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agent.indexOf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("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msie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") != -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1))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$(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swiper.slides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).find('a').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css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('outline', 'none');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if ( 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shift_key_status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== false 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	if (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swiper.activeIndex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&gt; 0)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		$(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swiper.slides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).find('a').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removeClass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ie_focused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')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		.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css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('border' , 'none');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		$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this.parent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().next().find('a').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addClass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ie_focused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')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		.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css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('border', '1px dotted #000');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	}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} else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	$(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swiper.slides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).find('a').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removeClass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ie_focused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')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	.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css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('border' , 'none');							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	$this.css('border', '1px dotted #000');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	}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}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swiper.swipeTo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(index);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}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5213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C55BBB3-F869-4C89-9006-B20FE9F6F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238" y="2698217"/>
            <a:ext cx="2566597" cy="33302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https://www.fsb.or.kr/cps_index.act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1-1 &lt;img&gt;,&lt;input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</a:t>
            </a:r>
            <a:r>
              <a:rPr lang="ko-KR" altLang="en-US"/>
              <a:t>속성은 선언되었으나 그 내용이 </a:t>
            </a:r>
            <a:r>
              <a:rPr lang="en-US" altLang="ko-KR"/>
              <a:t>img</a:t>
            </a:r>
            <a:r>
              <a:rPr lang="ko-KR" altLang="en-US"/>
              <a:t>의 내용을 대체할 수 없는 경우 그리고 오타로 표기되어 의미가 변경된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en-US" altLang="ko-KR" dirty="0"/>
              <a:t>alt </a:t>
            </a:r>
            <a:r>
              <a:rPr lang="ko-KR" altLang="en-US" dirty="0"/>
              <a:t>속성이 생략되면 이미지 요소의 경로 정보가 스크린 리더로 출력됨</a:t>
            </a:r>
          </a:p>
          <a:p>
            <a:r>
              <a:rPr lang="ko-KR" altLang="en-US" dirty="0"/>
              <a:t>이미지가 전달하고자 하는 정보와 동등한 수준의 설명을 대체 텍스트로 제공해야 함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3275450"/>
            <a:ext cx="4104000" cy="828140"/>
            <a:chOff x="631825" y="4319397"/>
            <a:chExt cx="4104000" cy="8281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src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fileViewFsb.jsp?FILE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=FSB_VOICE.jpg&amp;amp;DSTC1=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class="main-title-small-banner-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938238" y="2698217"/>
            <a:ext cx="2566597" cy="333603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16279" y="2529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4484590"/>
            <a:ext cx="4104000" cy="828140"/>
            <a:chOff x="631825" y="4319397"/>
            <a:chExt cx="4104000" cy="8281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src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fileViewFsb.jsp?FILE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=FSB_VOICE.jpg&amp;amp;DSTC1=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class="main-title-small-banner-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보이스피싱 피해예방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</p:txBody>
        </p:sp>
      </p:grpSp>
      <p:graphicFrame>
        <p:nvGraphicFramePr>
          <p:cNvPr id="17" name="표 13">
            <a:extLst>
              <a:ext uri="{FF2B5EF4-FFF2-40B4-BE49-F238E27FC236}">
                <a16:creationId xmlns:a16="http://schemas.microsoft.com/office/drawing/2014/main" id="{C411AADB-0EC5-4C4E-9475-233B05337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44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C55BBB3-F869-4C89-9006-B20FE9F6F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238" y="2698217"/>
            <a:ext cx="2566597" cy="33302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https://www.fsb.or.kr/cps_index.act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/>
              <a:t>스크린리더 사용자 사용성 개선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슬라이드 요소가 </a:t>
            </a:r>
            <a:r>
              <a:rPr lang="en-US" altLang="ko-KR" dirty="0"/>
              <a:t>1</a:t>
            </a:r>
            <a:r>
              <a:rPr lang="ko-KR" altLang="en-US" dirty="0"/>
              <a:t>개만 제공되지만</a:t>
            </a:r>
            <a:r>
              <a:rPr lang="en-US" altLang="ko-KR" dirty="0"/>
              <a:t>, </a:t>
            </a:r>
            <a:r>
              <a:rPr lang="ko-KR" altLang="en-US" dirty="0"/>
              <a:t>불필요한 컨트롤러가 제공되고 있으므로 슬라이드 요소가 </a:t>
            </a:r>
            <a:r>
              <a:rPr lang="en-US" altLang="ko-KR" dirty="0"/>
              <a:t>1</a:t>
            </a:r>
            <a:r>
              <a:rPr lang="ko-KR" altLang="en-US" dirty="0"/>
              <a:t>개만 제공될 때에는 컨트롤러를 제거 권장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7761002" y="5423495"/>
            <a:ext cx="743833" cy="61075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13000" y="5265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3">
            <a:extLst>
              <a:ext uri="{FF2B5EF4-FFF2-40B4-BE49-F238E27FC236}">
                <a16:creationId xmlns:a16="http://schemas.microsoft.com/office/drawing/2014/main" id="{4D2304D0-27CA-4520-AAAE-624D2A157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814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C47E296-A66D-4EBC-A227-175D7397D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47" y="3705562"/>
            <a:ext cx="3819193" cy="13194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보통예금 </a:t>
            </a:r>
            <a:r>
              <a:rPr lang="en-US" altLang="ko-KR" dirty="0"/>
              <a:t>- </a:t>
            </a:r>
            <a:r>
              <a:rPr lang="ko-KR" altLang="en-US" dirty="0" err="1"/>
              <a:t>예적금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https://www.fsb.or.kr/findeinnorm_0100.act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1-1 &lt;img&gt;,&lt;input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</a:t>
            </a:r>
            <a:r>
              <a:rPr lang="ko-KR" altLang="en-US"/>
              <a:t>속성은 선언되었으나 그 내용이 </a:t>
            </a:r>
            <a:r>
              <a:rPr lang="en-US" altLang="ko-KR"/>
              <a:t>img</a:t>
            </a:r>
            <a:r>
              <a:rPr lang="ko-KR" altLang="en-US"/>
              <a:t>의 내용을 대체할 수 없는 경우 그리고 오타로 표기되어 의미가 변경된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en-US" altLang="ko-KR" dirty="0"/>
              <a:t>alt </a:t>
            </a:r>
            <a:r>
              <a:rPr lang="ko-KR" altLang="en-US" dirty="0"/>
              <a:t>속성이 생략되면 이미지 요소의 경로 정보가 스크린 리더로 출력됨</a:t>
            </a:r>
          </a:p>
          <a:p>
            <a:r>
              <a:rPr lang="ko-KR" altLang="en-US" dirty="0"/>
              <a:t>이미지가 전달하고자 하는 정보와 동등한 수준의 설명을 대체 텍스트로 제공해야 함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3275450"/>
            <a:ext cx="4104000" cy="557424"/>
            <a:chOff x="631825" y="4319397"/>
            <a:chExt cx="4104000" cy="55742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src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="/cps/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/common/kdic.png"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alt="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예금보험공사 로고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938239" y="4543200"/>
            <a:ext cx="742762" cy="4356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13000" y="437659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4213874"/>
            <a:ext cx="4104000" cy="692846"/>
            <a:chOff x="631825" y="4319397"/>
            <a:chExt cx="4104000" cy="69284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48164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src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="/cps/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/common/kdic.png"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alt="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예금보험공사 보호금융상품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인당 최고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천만원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0542E5-5EE2-4B61-AC96-A99BE098BB2B}"/>
              </a:ext>
            </a:extLst>
          </p:cNvPr>
          <p:cNvSpPr/>
          <p:nvPr/>
        </p:nvSpPr>
        <p:spPr>
          <a:xfrm>
            <a:off x="5241001" y="2852986"/>
            <a:ext cx="3960000" cy="346221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예적금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보통예금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예적금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정기예금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예적금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정기적금 공통</a:t>
            </a:r>
          </a:p>
        </p:txBody>
      </p: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177C2334-AAF5-4FA5-835E-C2E49C26E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8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ADA25E2A-CA2F-44CA-BEDF-386E34384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807" y="3249030"/>
            <a:ext cx="3819193" cy="223344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정기예금 </a:t>
            </a:r>
            <a:r>
              <a:rPr lang="en-US" altLang="ko-KR" dirty="0"/>
              <a:t>- </a:t>
            </a:r>
            <a:r>
              <a:rPr lang="ko-KR" altLang="en-US" dirty="0" err="1"/>
              <a:t>예적금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https://www.fsb.or.kr/findeinregu_0100.act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18. (</a:t>
            </a:r>
            <a:r>
              <a:rPr lang="ko-KR" altLang="en-US"/>
              <a:t>사용자 요구에 따른 실행</a:t>
            </a:r>
            <a:r>
              <a:rPr lang="en-US" altLang="ko-KR"/>
              <a:t>) </a:t>
            </a:r>
            <a:r>
              <a:rPr lang="ko-KR" altLang="en-US"/>
              <a:t>사용자가 의도하지 않은 기능</a:t>
            </a:r>
            <a:r>
              <a:rPr lang="en-US" altLang="ko-KR"/>
              <a:t>(</a:t>
            </a:r>
            <a:r>
              <a:rPr lang="ko-KR" altLang="en-US"/>
              <a:t>새 창</a:t>
            </a:r>
            <a:r>
              <a:rPr lang="en-US" altLang="ko-KR"/>
              <a:t>, </a:t>
            </a:r>
            <a:r>
              <a:rPr lang="ko-KR" altLang="en-US"/>
              <a:t>초점 변화 등</a:t>
            </a:r>
            <a:r>
              <a:rPr lang="en-US" altLang="ko-KR"/>
              <a:t>)</a:t>
            </a:r>
            <a:r>
              <a:rPr lang="ko-KR" altLang="en-US"/>
              <a:t>은 실행되지 않아야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18-3 </a:t>
            </a:r>
            <a:r>
              <a:rPr lang="ko-KR" altLang="en-US"/>
              <a:t>사용자가 의도하지 않은 초점 변화나 기능이 발생되어 맥락상 불편을 주는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요소가 제공하는 정보가 잘못 제공되고 있으므로</a:t>
            </a:r>
            <a:r>
              <a:rPr lang="en-US" altLang="ko-KR" dirty="0"/>
              <a:t>, </a:t>
            </a:r>
            <a:r>
              <a:rPr lang="ko-KR" altLang="en-US" dirty="0"/>
              <a:t>올바르게 제공하여 개선해야 함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3039488"/>
            <a:ext cx="4104000" cy="963689"/>
            <a:chOff x="631825" y="4319397"/>
            <a:chExt cx="4104000" cy="96368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752486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="ratedepo_0100.act" class="btn-style01 type02"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정기예금 금리비교 바로가기 </a:t>
              </a:r>
              <a:r>
                <a:rPr lang="ko-KR" altLang="en-US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새창열기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detailview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f-color01"&gt;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정기예금 금리비교 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6685545" y="5175952"/>
            <a:ext cx="1080000" cy="30652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16184" y="501472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4248756"/>
            <a:ext cx="4104000" cy="828140"/>
            <a:chOff x="631825" y="4319397"/>
            <a:chExt cx="4104000" cy="8281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="ratedepo_0100.act" class="btn-style01 type02"&gt;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detailview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f-color01"&gt;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정기예금 금리비교 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</p:txBody>
        </p:sp>
      </p:grpSp>
      <p:graphicFrame>
        <p:nvGraphicFramePr>
          <p:cNvPr id="17" name="표 13">
            <a:extLst>
              <a:ext uri="{FF2B5EF4-FFF2-40B4-BE49-F238E27FC236}">
                <a16:creationId xmlns:a16="http://schemas.microsoft.com/office/drawing/2014/main" id="{C59A421B-1DE2-41D8-9838-6AA30DA72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156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92116C6-00C0-42CD-B94C-2D7122486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436" y="3130099"/>
            <a:ext cx="3819193" cy="24662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정기적금 </a:t>
            </a:r>
            <a:r>
              <a:rPr lang="en-US" altLang="ko-KR" dirty="0"/>
              <a:t>- </a:t>
            </a:r>
            <a:r>
              <a:rPr lang="ko-KR" altLang="en-US" dirty="0" err="1"/>
              <a:t>예적금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https://www.fsb.or.kr/findeininst_0100.act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18. (</a:t>
            </a:r>
            <a:r>
              <a:rPr lang="ko-KR" altLang="en-US" dirty="0"/>
              <a:t>사용자 요구에 따른 실행</a:t>
            </a:r>
            <a:r>
              <a:rPr lang="en-US" altLang="ko-KR" dirty="0"/>
              <a:t>) </a:t>
            </a:r>
            <a:r>
              <a:rPr lang="ko-KR" altLang="en-US" dirty="0"/>
              <a:t>사용자가 의도하지 않은 기능</a:t>
            </a:r>
            <a:r>
              <a:rPr lang="en-US" altLang="ko-KR" dirty="0"/>
              <a:t>(</a:t>
            </a:r>
            <a:r>
              <a:rPr lang="ko-KR" altLang="en-US" dirty="0"/>
              <a:t>새 창</a:t>
            </a:r>
            <a:r>
              <a:rPr lang="en-US" altLang="ko-KR" dirty="0"/>
              <a:t>, </a:t>
            </a:r>
            <a:r>
              <a:rPr lang="ko-KR" altLang="en-US" dirty="0"/>
              <a:t>초점 변화 등</a:t>
            </a:r>
            <a:r>
              <a:rPr lang="en-US" altLang="ko-KR" dirty="0"/>
              <a:t>)</a:t>
            </a:r>
            <a:r>
              <a:rPr lang="ko-KR" altLang="en-US" dirty="0"/>
              <a:t>은 실행되지 않아야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18-3 </a:t>
            </a:r>
            <a:r>
              <a:rPr lang="ko-KR" altLang="en-US"/>
              <a:t>사용자가 의도하지 않은 초점 변화나 기능이 발생되어 맥락상 불편을 주는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요소가 제공하는 정보가 잘못 제공되고 있으므로</a:t>
            </a:r>
            <a:r>
              <a:rPr lang="en-US" altLang="ko-KR" dirty="0"/>
              <a:t>, </a:t>
            </a:r>
            <a:r>
              <a:rPr lang="ko-KR" altLang="en-US" dirty="0"/>
              <a:t>올바르게 제공하여 개선해야 함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3039488"/>
            <a:ext cx="4104000" cy="963689"/>
            <a:chOff x="631825" y="4319397"/>
            <a:chExt cx="4104000" cy="96368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752486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="rateinst_0100.act" class="btn-style01 type02"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정기적금 금리비교 바로가기 </a:t>
              </a:r>
              <a:r>
                <a:rPr lang="ko-KR" altLang="en-US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새창열기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detailview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f-color01"&gt;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정기적금 금리비교 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6681000" y="5282477"/>
            <a:ext cx="1080000" cy="30652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11639" y="5121245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4384177"/>
            <a:ext cx="4104000" cy="828140"/>
            <a:chOff x="631825" y="4319397"/>
            <a:chExt cx="4104000" cy="8281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="rateinst_0100.act" class="btn-style01 type02"&gt;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detailview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f-color01"&gt;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정기적금 금리비교 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</p:txBody>
        </p:sp>
      </p:grpSp>
      <p:graphicFrame>
        <p:nvGraphicFramePr>
          <p:cNvPr id="17" name="표 13">
            <a:extLst>
              <a:ext uri="{FF2B5EF4-FFF2-40B4-BE49-F238E27FC236}">
                <a16:creationId xmlns:a16="http://schemas.microsoft.com/office/drawing/2014/main" id="{3228ED00-5586-4F68-893D-5EF26CB19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63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8B425334-89F0-471C-924B-1B31C8661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302" y="3667485"/>
            <a:ext cx="3819193" cy="13979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담보대출 </a:t>
            </a:r>
            <a:r>
              <a:rPr lang="en-US" altLang="ko-KR" dirty="0"/>
              <a:t>- </a:t>
            </a:r>
            <a:r>
              <a:rPr lang="ko-KR" altLang="en-US" dirty="0"/>
              <a:t>대출 </a:t>
            </a:r>
            <a:r>
              <a:rPr lang="en-US" altLang="ko-KR" dirty="0"/>
              <a:t>- </a:t>
            </a:r>
            <a:r>
              <a:rPr lang="ko-KR" altLang="en-US" dirty="0"/>
              <a:t>상품안내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https://www.fsb.or.kr/finloancoll_0100.act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18. (</a:t>
            </a:r>
            <a:r>
              <a:rPr lang="ko-KR" altLang="en-US" dirty="0"/>
              <a:t>사용자 요구에 따른 실행</a:t>
            </a:r>
            <a:r>
              <a:rPr lang="en-US" altLang="ko-KR" dirty="0"/>
              <a:t>) </a:t>
            </a:r>
            <a:r>
              <a:rPr lang="ko-KR" altLang="en-US" dirty="0"/>
              <a:t>사용자가 의도하지 않은 기능</a:t>
            </a:r>
            <a:r>
              <a:rPr lang="en-US" altLang="ko-KR" dirty="0"/>
              <a:t>(</a:t>
            </a:r>
            <a:r>
              <a:rPr lang="ko-KR" altLang="en-US" dirty="0"/>
              <a:t>새 창</a:t>
            </a:r>
            <a:r>
              <a:rPr lang="en-US" altLang="ko-KR" dirty="0"/>
              <a:t>, </a:t>
            </a:r>
            <a:r>
              <a:rPr lang="ko-KR" altLang="en-US" dirty="0"/>
              <a:t>초점 변화 등</a:t>
            </a:r>
            <a:r>
              <a:rPr lang="en-US" altLang="ko-KR" dirty="0"/>
              <a:t>)</a:t>
            </a:r>
            <a:r>
              <a:rPr lang="ko-KR" altLang="en-US" dirty="0"/>
              <a:t>은 실행되지 않아야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18-3 </a:t>
            </a:r>
            <a:r>
              <a:rPr lang="ko-KR" altLang="en-US"/>
              <a:t>사용자가 의도하지 않은 초점 변화나 기능이 발생되어 맥락상 불편을 주는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요소가 제공하는 정보가 잘못 제공되고 있으므로</a:t>
            </a:r>
            <a:r>
              <a:rPr lang="en-US" altLang="ko-KR" dirty="0"/>
              <a:t>, </a:t>
            </a:r>
            <a:r>
              <a:rPr lang="ko-KR" altLang="en-US" dirty="0"/>
              <a:t>올바르게 제공하여 개선해야 함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3039488"/>
            <a:ext cx="4104000" cy="1098983"/>
            <a:chOff x="631825" y="4319397"/>
            <a:chExt cx="4104000" cy="109898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="ratloanguar_0100.act" class="btn-style01 type02"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가계담보대출 금리비교 바로가기 </a:t>
              </a:r>
              <a:r>
                <a:rPr lang="ko-KR" altLang="en-US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새창열기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detailview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f-color01"&gt;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가계담보대출 금리비교 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354777" y="4721467"/>
            <a:ext cx="1080000" cy="30652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85416" y="4560235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4519471"/>
            <a:ext cx="4104000" cy="963561"/>
            <a:chOff x="631825" y="4319397"/>
            <a:chExt cx="4104000" cy="96356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="ratloanguar_0100.act" class="btn-style01 type02"&gt;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detailview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f-color01"&gt;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가계담보대출 금리비교 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</p:txBody>
        </p:sp>
      </p:grpSp>
      <p:graphicFrame>
        <p:nvGraphicFramePr>
          <p:cNvPr id="17" name="표 13">
            <a:extLst>
              <a:ext uri="{FF2B5EF4-FFF2-40B4-BE49-F238E27FC236}">
                <a16:creationId xmlns:a16="http://schemas.microsoft.com/office/drawing/2014/main" id="{3B075832-F9F6-4F55-88D2-831A2D1DE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529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BB2B062-CEFA-4753-A9CF-5BDC0B234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898" y="3611150"/>
            <a:ext cx="4201112" cy="14953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담보대출 </a:t>
            </a:r>
            <a:r>
              <a:rPr lang="en-US" altLang="ko-KR" dirty="0"/>
              <a:t>- </a:t>
            </a:r>
            <a:r>
              <a:rPr lang="ko-KR" altLang="en-US" dirty="0"/>
              <a:t>대출 </a:t>
            </a:r>
            <a:r>
              <a:rPr lang="en-US" altLang="ko-KR" dirty="0"/>
              <a:t>- </a:t>
            </a:r>
            <a:r>
              <a:rPr lang="ko-KR" altLang="en-US" dirty="0"/>
              <a:t>상품안내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https://www.fsb.or.kr/finloancred_0100.act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18. (</a:t>
            </a:r>
            <a:r>
              <a:rPr lang="ko-KR" altLang="en-US" dirty="0"/>
              <a:t>사용자 요구에 따른 실행</a:t>
            </a:r>
            <a:r>
              <a:rPr lang="en-US" altLang="ko-KR" dirty="0"/>
              <a:t>) </a:t>
            </a:r>
            <a:r>
              <a:rPr lang="ko-KR" altLang="en-US" dirty="0"/>
              <a:t>사용자가 의도하지 않은 기능</a:t>
            </a:r>
            <a:r>
              <a:rPr lang="en-US" altLang="ko-KR" dirty="0"/>
              <a:t>(</a:t>
            </a:r>
            <a:r>
              <a:rPr lang="ko-KR" altLang="en-US" dirty="0"/>
              <a:t>새 창</a:t>
            </a:r>
            <a:r>
              <a:rPr lang="en-US" altLang="ko-KR" dirty="0"/>
              <a:t>, </a:t>
            </a:r>
            <a:r>
              <a:rPr lang="ko-KR" altLang="en-US" dirty="0"/>
              <a:t>초점 변화 등</a:t>
            </a:r>
            <a:r>
              <a:rPr lang="en-US" altLang="ko-KR" dirty="0"/>
              <a:t>)</a:t>
            </a:r>
            <a:r>
              <a:rPr lang="ko-KR" altLang="en-US" dirty="0"/>
              <a:t>은 실행되지 않아야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18-3 </a:t>
            </a:r>
            <a:r>
              <a:rPr lang="ko-KR" altLang="en-US"/>
              <a:t>사용자가 의도하지 않은 초점 변화나 기능이 발생되어 맥락상 불편을 주는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요소가 제공하는 정보가 잘못 제공되고 있으므로</a:t>
            </a:r>
            <a:r>
              <a:rPr lang="en-US" altLang="ko-KR" dirty="0"/>
              <a:t>, </a:t>
            </a:r>
            <a:r>
              <a:rPr lang="ko-KR" altLang="en-US" dirty="0"/>
              <a:t>올바르게 제공하여 개선해야 함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3039488"/>
            <a:ext cx="4104000" cy="1098983"/>
            <a:chOff x="631825" y="4319397"/>
            <a:chExt cx="4104000" cy="109898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="ratloanconf_0100.act" class="btn-style01 type02"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가계신용대출 금리비교 바로가기 </a:t>
              </a:r>
              <a:r>
                <a:rPr lang="ko-KR" altLang="en-US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새창열기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detailview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f-color01"&gt;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가계신용대출 금리비교 </a:t>
              </a:r>
              <a:endParaRPr lang="en-US" altLang="ko-KR" sz="800" i="0" dirty="0"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241000" y="4721467"/>
            <a:ext cx="2159999" cy="30652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85000" y="4560235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4519471"/>
            <a:ext cx="4104000" cy="963561"/>
            <a:chOff x="631825" y="4319397"/>
            <a:chExt cx="4104000" cy="96356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="ratloanconf_0100.act" class="btn-style01 type02"&gt;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detailview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f-color01"&gt;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가계신용대출 금리비교 </a:t>
              </a:r>
              <a:endParaRPr lang="en-US" altLang="ko-KR" sz="800" i="0" dirty="0"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</p:txBody>
        </p:sp>
      </p:grpSp>
      <p:graphicFrame>
        <p:nvGraphicFramePr>
          <p:cNvPr id="17" name="표 13">
            <a:extLst>
              <a:ext uri="{FF2B5EF4-FFF2-40B4-BE49-F238E27FC236}">
                <a16:creationId xmlns:a16="http://schemas.microsoft.com/office/drawing/2014/main" id="{E8130C12-A671-4046-B273-F67DAD7F3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389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79A17B2D-5582-4085-9DB7-0ADEF20EF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495" y="2914312"/>
            <a:ext cx="3954947" cy="29084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사잇돌</a:t>
            </a:r>
            <a:r>
              <a:rPr lang="en-US" altLang="ko-KR" dirty="0"/>
              <a:t>2 - </a:t>
            </a:r>
            <a:r>
              <a:rPr lang="ko-KR" altLang="en-US" dirty="0" err="1"/>
              <a:t>정책서민금융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대출 </a:t>
            </a:r>
            <a:r>
              <a:rPr lang="en-US" altLang="ko-KR" dirty="0"/>
              <a:t>- </a:t>
            </a:r>
            <a:r>
              <a:rPr lang="ko-KR" altLang="en-US" dirty="0"/>
              <a:t>상품안내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https://www.fsb.or.kr/finloanpoli_0200.act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9. (</a:t>
            </a:r>
            <a:r>
              <a:rPr lang="ko-KR" altLang="en-US"/>
              <a:t>초점 이동</a:t>
            </a:r>
            <a:r>
              <a:rPr lang="en-US" altLang="ko-KR"/>
              <a:t>) </a:t>
            </a:r>
            <a:r>
              <a:rPr lang="ko-KR" altLang="en-US"/>
              <a:t>키보드에 의한 초점은 논리적으로 이동해야 하며 시각적으로 구별할 수 있어야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9-2 </a:t>
            </a:r>
            <a:r>
              <a:rPr lang="ko-KR" altLang="en-US"/>
              <a:t>초점 또는 키보드의 위치를 나타내는 요소가 시각적으로 표시되지 않은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7997"/>
          </a:xfrm>
        </p:spPr>
        <p:txBody>
          <a:bodyPr/>
          <a:lstStyle/>
          <a:p>
            <a:r>
              <a:rPr lang="ko-KR" altLang="en-US" dirty="0"/>
              <a:t>키보드의 초점을 시각적으로 명확하게 구분할 수 있도록 수정해야 함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2854822"/>
            <a:ext cx="4104000" cy="1234405"/>
            <a:chOff x="631825" y="4319397"/>
            <a:chExt cx="4104000" cy="123440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div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class="pro-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infobox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"&gt;...&lt;/div&gt;</a:t>
              </a:r>
              <a:endParaRPr lang="en-US" altLang="ko-KR" sz="800" i="0" dirty="0"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&lt;span class="component-layer-close-button-text"&gt;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간편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·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소액 </a:t>
              </a:r>
              <a:r>
                <a:rPr lang="ko-KR" altLang="en-US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사잇돌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2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표준 </a:t>
              </a:r>
              <a:r>
                <a:rPr lang="ko-KR" altLang="en-US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사잇돌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2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대출을 보다 편리하게 이용할 수 있도록 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ko-KR" altLang="en-US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비대면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	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채널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ko-KR" altLang="en-US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무방문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)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을 통해 공급되는 </a:t>
              </a:r>
              <a:r>
                <a:rPr lang="ko-KR" altLang="en-US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중금리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 보증대출상품 닫기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248495" y="5729573"/>
            <a:ext cx="3954943" cy="2160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20728" y="5553001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4470227"/>
            <a:ext cx="4104000" cy="1234405"/>
            <a:chOff x="631825" y="4319397"/>
            <a:chExt cx="4104000" cy="123440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div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class="pro-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infobox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"&gt;...&lt;/div&gt;</a:t>
              </a:r>
              <a:endParaRPr lang="en-US" altLang="ko-KR" sz="800" i="0" dirty="0"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&lt;span class="component-layer-close-button-text"&gt;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</a:t>
              </a:r>
              <a:r>
                <a:rPr lang="ko-KR" altLang="en-US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간편</a:t>
              </a: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·</a:t>
              </a:r>
              <a:r>
                <a:rPr lang="ko-KR" altLang="en-US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소액 </a:t>
              </a:r>
              <a:r>
                <a:rPr lang="ko-KR" altLang="en-US" sz="800" b="1" i="0" strike="sngStrike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사잇돌</a:t>
              </a: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2 </a:t>
              </a:r>
              <a:r>
                <a:rPr lang="ko-KR" altLang="en-US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표준 </a:t>
              </a:r>
              <a:r>
                <a:rPr lang="ko-KR" altLang="en-US" sz="800" b="1" i="0" strike="sngStrike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사잇돌</a:t>
              </a: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2 </a:t>
              </a:r>
              <a:r>
                <a:rPr lang="ko-KR" altLang="en-US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대출을 보다 편리하게 이용할 수 있도록 </a:t>
              </a:r>
              <a:endParaRPr lang="en-US" altLang="ko-KR" sz="800" b="1" i="0" strike="sngStrike" dirty="0">
                <a:solidFill>
                  <a:schemeClr val="accent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</a:t>
              </a:r>
              <a:r>
                <a:rPr lang="ko-KR" altLang="en-US" sz="800" b="1" i="0" strike="sngStrike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비대면</a:t>
              </a:r>
              <a:r>
                <a:rPr lang="ko-KR" altLang="en-US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	</a:t>
              </a:r>
              <a:r>
                <a:rPr lang="ko-KR" altLang="en-US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채널</a:t>
              </a: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ko-KR" altLang="en-US" sz="800" b="1" i="0" strike="sngStrike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무방문</a:t>
              </a: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)</a:t>
              </a:r>
              <a:r>
                <a:rPr lang="ko-KR" altLang="en-US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을 통해 공급되는 </a:t>
              </a:r>
              <a:r>
                <a:rPr lang="ko-KR" altLang="en-US" sz="800" b="1" i="0" strike="sngStrike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중금리</a:t>
              </a:r>
              <a:r>
                <a:rPr lang="ko-KR" altLang="en-US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 보증대출상품 닫기</a:t>
              </a: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graphicFrame>
        <p:nvGraphicFramePr>
          <p:cNvPr id="17" name="표 13">
            <a:extLst>
              <a:ext uri="{FF2B5EF4-FFF2-40B4-BE49-F238E27FC236}">
                <a16:creationId xmlns:a16="http://schemas.microsoft.com/office/drawing/2014/main" id="{48874647-FD95-4F84-B032-5CEB4462B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178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2E4E769-6F99-4379-B4D9-D0DF34EF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292" y="2913384"/>
            <a:ext cx="4019357" cy="29084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사잇돌</a:t>
            </a:r>
            <a:r>
              <a:rPr lang="en-US" altLang="ko-KR" dirty="0"/>
              <a:t>2 - </a:t>
            </a:r>
            <a:r>
              <a:rPr lang="ko-KR" altLang="en-US" dirty="0" err="1"/>
              <a:t>정책서민금융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대출 </a:t>
            </a:r>
            <a:r>
              <a:rPr lang="en-US" altLang="ko-KR" dirty="0"/>
              <a:t>- </a:t>
            </a:r>
            <a:r>
              <a:rPr lang="ko-KR" altLang="en-US" dirty="0"/>
              <a:t>상품안내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https://www.fsb.or.kr/finloanpoli_0200.act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/>
              <a:t>스크린리더 사용성 개선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7997"/>
          </a:xfrm>
        </p:spPr>
        <p:txBody>
          <a:bodyPr/>
          <a:lstStyle/>
          <a:p>
            <a:r>
              <a:rPr lang="ko-KR" altLang="en-US" dirty="0"/>
              <a:t>동작하지 않는 버튼은 삭제 권장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2854822"/>
            <a:ext cx="4104000" cy="828140"/>
            <a:chOff x="631825" y="4319397"/>
            <a:chExt cx="4104000" cy="8281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="#" class="btn-style01 type02" title="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취급 저축은행 찾기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detailview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 f-color01"&gt;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취급 저축은행 찾기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6681002" y="5578266"/>
            <a:ext cx="1007998" cy="2160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20728" y="5371525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7CD5ED4-5E54-45EC-B454-4250C69AE3A2}"/>
              </a:ext>
            </a:extLst>
          </p:cNvPr>
          <p:cNvSpPr/>
          <p:nvPr/>
        </p:nvSpPr>
        <p:spPr>
          <a:xfrm>
            <a:off x="5354382" y="2371775"/>
            <a:ext cx="3745175" cy="346221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간편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소액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사잇돌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2,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대환형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사잇돌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2,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채무조정졸업자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사잇돌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2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공통</a:t>
            </a:r>
          </a:p>
        </p:txBody>
      </p:sp>
      <p:graphicFrame>
        <p:nvGraphicFramePr>
          <p:cNvPr id="15" name="표 13">
            <a:extLst>
              <a:ext uri="{FF2B5EF4-FFF2-40B4-BE49-F238E27FC236}">
                <a16:creationId xmlns:a16="http://schemas.microsoft.com/office/drawing/2014/main" id="{E2F89200-C039-4086-B26C-77258DFCC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819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918F6B2-AEB5-4D35-B514-621DEA003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941" y="3688481"/>
            <a:ext cx="3819193" cy="133787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간편결제 </a:t>
            </a:r>
            <a:r>
              <a:rPr lang="en-US" altLang="ko-KR" dirty="0"/>
              <a:t>- </a:t>
            </a:r>
            <a:r>
              <a:rPr lang="ko-KR" altLang="en-US" dirty="0"/>
              <a:t>체크카드 및 간편결제 </a:t>
            </a:r>
            <a:r>
              <a:rPr lang="en-US" altLang="ko-KR" dirty="0"/>
              <a:t>- </a:t>
            </a:r>
            <a:r>
              <a:rPr lang="ko-KR" altLang="en-US" dirty="0"/>
              <a:t>기타상품 </a:t>
            </a:r>
            <a:r>
              <a:rPr lang="en-US" altLang="ko-KR" dirty="0"/>
              <a:t>- </a:t>
            </a:r>
            <a:r>
              <a:rPr lang="ko-KR" altLang="en-US" dirty="0"/>
              <a:t>상품안내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https://www.fsb.or.kr/fincardregu_0200.act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1-1 &lt;img&gt;,&lt;input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</a:t>
            </a:r>
            <a:r>
              <a:rPr lang="ko-KR" altLang="en-US"/>
              <a:t>속성은 선언되었으나 그 내용이 </a:t>
            </a:r>
            <a:r>
              <a:rPr lang="en-US" altLang="ko-KR"/>
              <a:t>img</a:t>
            </a:r>
            <a:r>
              <a:rPr lang="ko-KR" altLang="en-US"/>
              <a:t>의 내용을 대체할 수 없는 경우 그리고 오타로 표기되어 의미가 변경된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이미지가 전달하고자 하는 정보와 동등한 수준의 설명을 대체 텍스트로 제공해야 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D8206B3-7873-47C0-B015-A04862F62E79}"/>
              </a:ext>
            </a:extLst>
          </p:cNvPr>
          <p:cNvGrpSpPr/>
          <p:nvPr/>
        </p:nvGrpSpPr>
        <p:grpSpPr>
          <a:xfrm>
            <a:off x="632129" y="3039488"/>
            <a:ext cx="4104000" cy="1098983"/>
            <a:chOff x="631825" y="4319397"/>
            <a:chExt cx="4104000" cy="109898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98CA7-3B81-489A-8F92-5420465F1C8D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326F73-BBCD-4955-8B15-F6D9CEAD1B35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="https://play.google.com/store/apps/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details?id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=com.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samsung.android.spay&amp;amp;hl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=ko" class="btn-style01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pt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src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="../../cps/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/content/icon_googleplay.png" alt="Google 	Play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버튼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8409000" y="4172109"/>
            <a:ext cx="722134" cy="2160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1000" y="3981227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4519471"/>
            <a:ext cx="4104000" cy="1099111"/>
            <a:chOff x="631825" y="4319397"/>
            <a:chExt cx="4104000" cy="109911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88790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="https://play.google.com/store/apps/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details?id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=com.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samsung.android.spay&amp;amp;hl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=ko" class="btn-style01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pt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src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="../../cps/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/content/icon_googleplay.png" alt="Google 	Play </a:t>
              </a:r>
              <a:r>
                <a:rPr lang="ko-KR" altLang="en-US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버튼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7" name="표 13">
            <a:extLst>
              <a:ext uri="{FF2B5EF4-FFF2-40B4-BE49-F238E27FC236}">
                <a16:creationId xmlns:a16="http://schemas.microsoft.com/office/drawing/2014/main" id="{A02D98AD-73CF-4A18-A3DE-4A2C65DA3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048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364B084-554C-4308-8453-B146052D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980" y="3166151"/>
            <a:ext cx="4201112" cy="22279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 </a:t>
            </a:r>
            <a:r>
              <a:rPr lang="en-US" altLang="ko-KR" dirty="0"/>
              <a:t>- KB</a:t>
            </a:r>
            <a:r>
              <a:rPr lang="ko-KR" altLang="en-US" dirty="0"/>
              <a:t>카드 </a:t>
            </a:r>
            <a:r>
              <a:rPr lang="en-US" altLang="ko-KR" dirty="0"/>
              <a:t>- </a:t>
            </a:r>
            <a:r>
              <a:rPr lang="ko-KR" altLang="en-US" dirty="0"/>
              <a:t>기타상품 </a:t>
            </a:r>
            <a:r>
              <a:rPr lang="en-US" altLang="ko-KR" dirty="0"/>
              <a:t>- </a:t>
            </a:r>
            <a:r>
              <a:rPr lang="ko-KR" altLang="en-US" dirty="0"/>
              <a:t>상품안내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https://www.fsb.or.kr/fincardkbca_0100.act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링크에 텍스트 또는 이름을 제공하여 보조 기술 사용자도 동등한 정보를 전달받을 수 있도록 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6493248" y="5119282"/>
            <a:ext cx="737124" cy="2874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53810" y="4969024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828268"/>
            <a:chOff x="631825" y="4319397"/>
            <a:chExt cx="4104000" cy="82826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61706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comFileDown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('200702_kbcard_guide.pdf');" class="btn-style06"&gt;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상품설명서 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자세히보기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248756"/>
            <a:ext cx="4104000" cy="828268"/>
            <a:chOff x="631825" y="4319397"/>
            <a:chExt cx="4104000" cy="82826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61706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comFileDown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('200702_kbcard_guide.pdf');" class="btn-style06"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상품설명서 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자세히보기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8E9F5EA8-A05A-4293-9234-AE5629A33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405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364B084-554C-4308-8453-B146052D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980" y="3166151"/>
            <a:ext cx="4201112" cy="22279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 </a:t>
            </a:r>
            <a:r>
              <a:rPr lang="en-US" altLang="ko-KR" dirty="0"/>
              <a:t>- KB</a:t>
            </a:r>
            <a:r>
              <a:rPr lang="ko-KR" altLang="en-US" dirty="0"/>
              <a:t>카드 </a:t>
            </a:r>
            <a:r>
              <a:rPr lang="en-US" altLang="ko-KR" dirty="0"/>
              <a:t>- </a:t>
            </a:r>
            <a:r>
              <a:rPr lang="ko-KR" altLang="en-US" dirty="0"/>
              <a:t>기타상품 </a:t>
            </a:r>
            <a:r>
              <a:rPr lang="en-US" altLang="ko-KR" dirty="0"/>
              <a:t>- </a:t>
            </a:r>
            <a:r>
              <a:rPr lang="ko-KR" altLang="en-US" dirty="0"/>
              <a:t>상품안내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https://www.fsb.or.kr/fincardkbca_0100.act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18. (</a:t>
            </a:r>
            <a:r>
              <a:rPr lang="ko-KR" altLang="en-US"/>
              <a:t>사용자 요구에 따른 실행</a:t>
            </a:r>
            <a:r>
              <a:rPr lang="en-US" altLang="ko-KR"/>
              <a:t>) </a:t>
            </a:r>
            <a:r>
              <a:rPr lang="ko-KR" altLang="en-US"/>
              <a:t>사용자가 의도하지 않은 기능</a:t>
            </a:r>
            <a:r>
              <a:rPr lang="en-US" altLang="ko-KR"/>
              <a:t>(</a:t>
            </a:r>
            <a:r>
              <a:rPr lang="ko-KR" altLang="en-US"/>
              <a:t>새 창</a:t>
            </a:r>
            <a:r>
              <a:rPr lang="en-US" altLang="ko-KR"/>
              <a:t>, </a:t>
            </a:r>
            <a:r>
              <a:rPr lang="ko-KR" altLang="en-US"/>
              <a:t>초점 변화 등</a:t>
            </a:r>
            <a:r>
              <a:rPr lang="en-US" altLang="ko-KR"/>
              <a:t>)</a:t>
            </a:r>
            <a:r>
              <a:rPr lang="ko-KR" altLang="en-US"/>
              <a:t>은 실행되지 않아야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18-1 </a:t>
            </a:r>
            <a:r>
              <a:rPr lang="ko-KR" altLang="en-US"/>
              <a:t>사용자가 실행하지 않은 상황에서 예측하지 않은 새 창이 열리는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새 창을 실행시키는 컨트롤 요소에는 </a:t>
            </a:r>
            <a:r>
              <a:rPr lang="en-US" altLang="ko-KR" dirty="0"/>
              <a:t>title </a:t>
            </a:r>
            <a:r>
              <a:rPr lang="ko-KR" altLang="en-US" dirty="0"/>
              <a:t>속성을 활용하여 동작 방식에 관한 정보를 제공해야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7185000" y="5119282"/>
            <a:ext cx="737124" cy="2874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45562" y="4969024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963689"/>
            <a:chOff x="631825" y="4319397"/>
            <a:chExt cx="4104000" cy="96368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752486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window.open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('https://card.kbcard.com/CXPRICAC0076.cms?mainCC=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a&amp;amp;cooperationcode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=04770')" type="button" class="btn-style01"&gt;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상품자세히보기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384177"/>
            <a:ext cx="4104000" cy="963689"/>
            <a:chOff x="631825" y="4319397"/>
            <a:chExt cx="4104000" cy="96368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752486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window.open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('https://card.kbcard.com/CXPRICAC0076.cms?mainCC=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a&amp;amp;cooperationcode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=04770')" type="button" class="btn-style01"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새 창 열림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상품자세히보기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9027D96C-129D-4938-83DF-012A9510C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934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963317D-242B-4293-B9B1-9602089E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302" y="3598394"/>
            <a:ext cx="3819193" cy="153612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 </a:t>
            </a:r>
            <a:r>
              <a:rPr lang="en-US" altLang="ko-KR" dirty="0"/>
              <a:t>- KB</a:t>
            </a:r>
            <a:r>
              <a:rPr lang="ko-KR" altLang="en-US" dirty="0"/>
              <a:t>카드 </a:t>
            </a:r>
            <a:r>
              <a:rPr lang="en-US" altLang="ko-KR" dirty="0"/>
              <a:t>- </a:t>
            </a:r>
            <a:r>
              <a:rPr lang="ko-KR" altLang="en-US" dirty="0"/>
              <a:t>기타상품 </a:t>
            </a:r>
            <a:r>
              <a:rPr lang="en-US" altLang="ko-KR" dirty="0"/>
              <a:t>- </a:t>
            </a:r>
            <a:r>
              <a:rPr lang="ko-KR" altLang="en-US" dirty="0"/>
              <a:t>상품안내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https://www.fsb.or.kr/fincardkbca_0100.act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8-1. (</a:t>
            </a:r>
            <a:r>
              <a:rPr lang="ko-KR" altLang="en-US"/>
              <a:t>키보드 사용 보장</a:t>
            </a:r>
            <a:r>
              <a:rPr lang="en-US" altLang="ko-KR"/>
              <a:t>) </a:t>
            </a:r>
            <a:r>
              <a:rPr lang="ko-KR" altLang="en-US"/>
              <a:t>모든 기능은 키보드만으로도 사용 할 수 있어야 한다</a:t>
            </a:r>
            <a:r>
              <a:rPr lang="en-US" altLang="ko-KR"/>
              <a:t>(PC</a:t>
            </a:r>
            <a:r>
              <a:rPr lang="ko-KR" altLang="en-US"/>
              <a:t>웹</a:t>
            </a:r>
            <a:r>
              <a:rPr lang="en-US" altLang="ko-KR"/>
              <a:t>).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8-1-1 </a:t>
            </a:r>
            <a:r>
              <a:rPr lang="ko-KR" altLang="en-US"/>
              <a:t>키보드로 접근 및 운용이 불가능한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en-US" altLang="ko-KR" dirty="0"/>
              <a:t>&lt;a&gt;</a:t>
            </a:r>
            <a:r>
              <a:rPr lang="ko-KR" altLang="en-US" dirty="0"/>
              <a:t>가 컨트롤 요소로 인식되어 키보드로 접근할 수 있도록 </a:t>
            </a:r>
            <a:r>
              <a:rPr lang="en-US" altLang="ko-KR" dirty="0" err="1"/>
              <a:t>href</a:t>
            </a:r>
            <a:r>
              <a:rPr lang="en-US" altLang="ko-KR" dirty="0"/>
              <a:t> </a:t>
            </a:r>
            <a:r>
              <a:rPr lang="ko-KR" altLang="en-US" dirty="0"/>
              <a:t>속성과 속성값을 선언해야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6033000" y="3953511"/>
            <a:ext cx="2592000" cy="105948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13538" y="3706394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557424"/>
            <a:chOff x="631825" y="4319397"/>
            <a:chExt cx="4104000" cy="55742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대신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3977912"/>
            <a:ext cx="4104000" cy="557424"/>
            <a:chOff x="631825" y="4319397"/>
            <a:chExt cx="4104000" cy="5574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="#"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대신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ADD99AEB-E5D1-408C-8C0B-946FC279E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530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963317D-242B-4293-B9B1-9602089E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302" y="3598394"/>
            <a:ext cx="3819193" cy="153612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 </a:t>
            </a:r>
            <a:r>
              <a:rPr lang="en-US" altLang="ko-KR" dirty="0"/>
              <a:t>- KB</a:t>
            </a:r>
            <a:r>
              <a:rPr lang="ko-KR" altLang="en-US" dirty="0"/>
              <a:t>카드 </a:t>
            </a:r>
            <a:r>
              <a:rPr lang="en-US" altLang="ko-KR" dirty="0"/>
              <a:t>- </a:t>
            </a:r>
            <a:r>
              <a:rPr lang="ko-KR" altLang="en-US" dirty="0"/>
              <a:t>기타상품 </a:t>
            </a:r>
            <a:r>
              <a:rPr lang="en-US" altLang="ko-KR" dirty="0"/>
              <a:t>- </a:t>
            </a:r>
            <a:r>
              <a:rPr lang="ko-KR" altLang="en-US" dirty="0"/>
              <a:t>상품안내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https://www.fsb.or.kr/fincardkbca_0100.act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링크에 텍스트 또는 이름을 제공하여 보조 기술 사용자도 동등한 정보를 전달받을 수 있도록 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6033000" y="3953511"/>
            <a:ext cx="2592000" cy="105948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13538" y="3706394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557424"/>
            <a:chOff x="631825" y="4319397"/>
            <a:chExt cx="4104000" cy="55742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대신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3977912"/>
            <a:ext cx="4104000" cy="557424"/>
            <a:chOff x="631825" y="4319397"/>
            <a:chExt cx="4104000" cy="5574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="#" title="</a:t>
              </a:r>
              <a:r>
                <a:rPr lang="ko-KR" altLang="en-US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실행시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저축은행 </a:t>
              </a:r>
              <a:r>
                <a:rPr lang="ko-KR" altLang="en-US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찾기페이지로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 이동됩니다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."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대신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DE09CD-5F29-4669-B4D2-43358BB246EA}"/>
              </a:ext>
            </a:extLst>
          </p:cNvPr>
          <p:cNvSpPr/>
          <p:nvPr/>
        </p:nvSpPr>
        <p:spPr>
          <a:xfrm>
            <a:off x="5745539" y="2683735"/>
            <a:ext cx="2951998" cy="481643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상품안내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기타상품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저축은행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롯데카드</a:t>
            </a:r>
            <a:endParaRPr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상품안내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기타상품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골드바매매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공통</a:t>
            </a:r>
          </a:p>
        </p:txBody>
      </p: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19819A51-41B6-4F5B-A7BF-1BCC6BBA6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563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BB78B698-8784-45F0-8A95-64E3AE6B4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807" y="3477903"/>
            <a:ext cx="3819193" cy="16367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예적금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거래단계별 정보 </a:t>
            </a:r>
            <a:r>
              <a:rPr lang="en-US" altLang="ko-KR" dirty="0"/>
              <a:t>- </a:t>
            </a:r>
            <a:r>
              <a:rPr lang="ko-KR" altLang="en-US" dirty="0"/>
              <a:t>상품안내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https://www.fsb.or.kr/finstepcons_0100.act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3291"/>
          </a:xfr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</a:p>
          <a:p>
            <a:r>
              <a:rPr lang="ko-KR" altLang="en-US" dirty="0"/>
              <a:t>스크린 리더가 사용할 수 있는 형태로 링크의 상태에 관한 부가 설명을 제공해야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294746" y="4487778"/>
            <a:ext cx="3833278" cy="22638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13538" y="4315677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401650"/>
            <a:ext cx="4104000" cy="963561"/>
            <a:chOff x="631825" y="4319397"/>
            <a:chExt cx="4104000" cy="96356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&lt;li class="tab-basic-buttons-item is-tab-basic-active"&gt;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="finstepcons_0100.act" class="tab-basic-buttons-item-link"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예적금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예적금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&lt;/li&gt;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572170"/>
            <a:ext cx="4104000" cy="963561"/>
            <a:chOff x="631825" y="4319397"/>
            <a:chExt cx="4104000" cy="96356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&lt;li class="tab-basic-buttons-item is-tab-basic-active"&gt;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="finstepcons_0100.act" class="tab-basic-buttons-item-link"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예적금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&lt;/li&gt;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80B940A-9B61-47CC-B520-25BFE310530B}"/>
              </a:ext>
            </a:extLst>
          </p:cNvPr>
          <p:cNvGrpSpPr/>
          <p:nvPr/>
        </p:nvGrpSpPr>
        <p:grpSpPr>
          <a:xfrm>
            <a:off x="625727" y="5747843"/>
            <a:ext cx="4104000" cy="557424"/>
            <a:chOff x="631825" y="4319397"/>
            <a:chExt cx="4104000" cy="55742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D68DB6-C9DF-4734-A049-48FE9858830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  <a:r>
                <a:rPr lang="en-US" altLang="ko-KR" sz="900" dirty="0"/>
                <a:t> : JavaScript</a:t>
              </a:r>
              <a:endParaRPr lang="ko-KR" altLang="en-US" sz="900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641B3C0-2DCC-45BD-BD28-3867AAC9BE34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$('.</a:t>
              </a:r>
              <a:r>
                <a:rPr lang="en-US" altLang="ko-KR" sz="800" b="0" i="0" dirty="0">
                  <a:solidFill>
                    <a:srgbClr val="202124"/>
                  </a:solidFill>
                  <a:effectLst/>
                  <a:latin typeface="consolas" panose="020B0609020204030204" pitchFamily="49" charset="0"/>
                </a:rPr>
                <a:t>is-tab-basic-active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').children('a').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attr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('title', '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선택됨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');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23" name="표 13">
            <a:extLst>
              <a:ext uri="{FF2B5EF4-FFF2-40B4-BE49-F238E27FC236}">
                <a16:creationId xmlns:a16="http://schemas.microsoft.com/office/drawing/2014/main" id="{A685149C-0636-44FF-9AB6-4C9F6A15C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164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7AECB22-E82C-49CD-B0AC-8E0EA0726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000" y="3277066"/>
            <a:ext cx="4201112" cy="24214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예금 </a:t>
            </a:r>
            <a:r>
              <a:rPr lang="en-US" altLang="ko-KR" dirty="0"/>
              <a:t>- </a:t>
            </a:r>
            <a:r>
              <a:rPr lang="ko-KR" altLang="en-US" dirty="0"/>
              <a:t>금리보기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https://www.fsb.or.kr/ratedepo_0100.act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16.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3291"/>
          </a:xfr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</a:p>
          <a:p>
            <a:r>
              <a:rPr lang="ko-KR" altLang="en-US" dirty="0"/>
              <a:t>스크린 리더가 사용할 수 있는 형태로 링크의 상태에 관한 부가 설명을 제공해야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961000" y="3697953"/>
            <a:ext cx="2807999" cy="26168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93000" y="3568116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460116"/>
            <a:ext cx="4104000" cy="1098983"/>
            <a:chOff x="631825" y="4319397"/>
            <a:chExt cx="4104000" cy="109898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class="table-sort sort-down" id="dan6Sort"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fncOrder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('DAN6SORT', this);"&gt;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class="text"&gt;6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개월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정렬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940099"/>
            <a:ext cx="4104000" cy="1369826"/>
            <a:chOff x="631825" y="4319397"/>
            <a:chExt cx="4104000" cy="136982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class="table-sort sort-down" id="dan6Sort"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fncOrder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('DAN6SORT', this);"&gt;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class="text"&gt;6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개월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내림차순 정렬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b="1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!--</a:t>
              </a:r>
              <a:r>
                <a:rPr lang="ko-KR" altLang="en-US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 개선안 이어서 </a:t>
              </a: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--&gt;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752AC6-7E24-429E-8EFE-284EAC4C6B95}"/>
              </a:ext>
            </a:extLst>
          </p:cNvPr>
          <p:cNvSpPr/>
          <p:nvPr/>
        </p:nvSpPr>
        <p:spPr>
          <a:xfrm>
            <a:off x="5961000" y="2349000"/>
            <a:ext cx="2807999" cy="346221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금리보기 공통</a:t>
            </a:r>
          </a:p>
        </p:txBody>
      </p: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6A4A93B2-D5BF-437C-B04D-B4D36AB81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06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예금 </a:t>
            </a:r>
            <a:r>
              <a:rPr lang="en-US" altLang="ko-KR" dirty="0"/>
              <a:t>- </a:t>
            </a:r>
            <a:r>
              <a:rPr lang="ko-KR" altLang="en-US" dirty="0"/>
              <a:t>금리보기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https://www.fsb.or.kr/ratedepo_0100.act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16.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2071502"/>
            <a:ext cx="4104000" cy="1640670"/>
            <a:chOff x="631825" y="4319397"/>
            <a:chExt cx="4104000" cy="164067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 </a:t>
              </a:r>
              <a:r>
                <a:rPr lang="en-US" altLang="ko-KR" sz="900" dirty="0"/>
                <a:t>: JavaScript(pub_common.js)</a:t>
              </a:r>
              <a:endParaRPr lang="ko-KR" altLang="en-US" sz="900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42946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$('.table-sort').click(function(){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if ($(this).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hasClass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('sort-up'))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$(this).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removeClass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('sort-up').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addClass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('sort-down');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$(this).children('.</a:t>
              </a:r>
              <a:r>
                <a:rPr lang="en-US" altLang="ko-KR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').text('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내림차순 정렬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');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} else if ($(this).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hasClass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('sort-down'))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$(this).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removeClass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('sort-down').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addClass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('sort-up');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$(this).children('.</a:t>
              </a:r>
              <a:r>
                <a:rPr lang="en-US" altLang="ko-KR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').text('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오름차순 정렬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');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}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});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5895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7AECB22-E82C-49CD-B0AC-8E0EA0726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000" y="3277066"/>
            <a:ext cx="4201112" cy="24214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예금 </a:t>
            </a:r>
            <a:r>
              <a:rPr lang="en-US" altLang="ko-KR" dirty="0"/>
              <a:t>- </a:t>
            </a:r>
            <a:r>
              <a:rPr lang="ko-KR" altLang="en-US" dirty="0"/>
              <a:t>금리보기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https://www.fsb.or.kr/ratedepo_0100.act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18. (</a:t>
            </a:r>
            <a:r>
              <a:rPr lang="ko-KR" altLang="en-US"/>
              <a:t>사용자 요구에 따른 실행</a:t>
            </a:r>
            <a:r>
              <a:rPr lang="en-US" altLang="ko-KR"/>
              <a:t>) </a:t>
            </a:r>
            <a:r>
              <a:rPr lang="ko-KR" altLang="en-US"/>
              <a:t>사용자가 의도하지 않은 기능</a:t>
            </a:r>
            <a:r>
              <a:rPr lang="en-US" altLang="ko-KR"/>
              <a:t>(</a:t>
            </a:r>
            <a:r>
              <a:rPr lang="ko-KR" altLang="en-US"/>
              <a:t>새 창</a:t>
            </a:r>
            <a:r>
              <a:rPr lang="en-US" altLang="ko-KR"/>
              <a:t>, </a:t>
            </a:r>
            <a:r>
              <a:rPr lang="ko-KR" altLang="en-US"/>
              <a:t>초점 변화 등</a:t>
            </a:r>
            <a:r>
              <a:rPr lang="en-US" altLang="ko-KR"/>
              <a:t>)</a:t>
            </a:r>
            <a:r>
              <a:rPr lang="ko-KR" altLang="en-US"/>
              <a:t>은 실행되지 않아야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18-3 </a:t>
            </a:r>
            <a:r>
              <a:rPr lang="ko-KR" altLang="en-US"/>
              <a:t>사용자가 의도하지 않은 초점 변화나 기능이 발생되어 맥락상 불편을 주는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959"/>
          </a:xfrm>
        </p:spPr>
        <p:txBody>
          <a:bodyPr/>
          <a:lstStyle/>
          <a:p>
            <a:r>
              <a:rPr lang="ko-KR" altLang="en-US" dirty="0"/>
              <a:t>요소를 실행할 경우</a:t>
            </a:r>
            <a:r>
              <a:rPr lang="en-US" altLang="ko-KR" dirty="0"/>
              <a:t>, </a:t>
            </a:r>
            <a:r>
              <a:rPr lang="ko-KR" altLang="en-US" dirty="0"/>
              <a:t>의도하지 않은 동작</a:t>
            </a:r>
            <a:r>
              <a:rPr lang="en-US" altLang="ko-KR" dirty="0"/>
              <a:t>(</a:t>
            </a:r>
            <a:r>
              <a:rPr lang="ko-KR" altLang="en-US" dirty="0"/>
              <a:t>콘텐츠 변경</a:t>
            </a:r>
            <a:r>
              <a:rPr lang="en-US" altLang="ko-KR" dirty="0"/>
              <a:t>)</a:t>
            </a:r>
            <a:r>
              <a:rPr lang="ko-KR" altLang="en-US" dirty="0"/>
              <a:t>이 실행됨</a:t>
            </a:r>
          </a:p>
          <a:p>
            <a:r>
              <a:rPr lang="ko-KR" altLang="en-US" dirty="0"/>
              <a:t>사용자가 동작을 예상할 수 있도록 정보를 제공해야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8697000" y="3303701"/>
            <a:ext cx="601111" cy="29593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77000" y="3142691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62D86C74-E721-4574-A386-E8849DF6CB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821" t="3492" b="90180"/>
          <a:stretch/>
        </p:blipFill>
        <p:spPr>
          <a:xfrm>
            <a:off x="1497000" y="3738535"/>
            <a:ext cx="1737651" cy="480962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6E683EF-CA21-4054-A171-7AEC6A3EB599}"/>
              </a:ext>
            </a:extLst>
          </p:cNvPr>
          <p:cNvSpPr/>
          <p:nvPr/>
        </p:nvSpPr>
        <p:spPr>
          <a:xfrm>
            <a:off x="3123361" y="3789000"/>
            <a:ext cx="785455" cy="396599"/>
          </a:xfrm>
          <a:prstGeom prst="roundRect">
            <a:avLst>
              <a:gd name="adj" fmla="val 8527"/>
            </a:avLst>
          </a:prstGeom>
          <a:solidFill>
            <a:srgbClr val="00397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ctr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100" b="1" dirty="0">
                <a:solidFill>
                  <a:schemeClr val="bg1"/>
                </a:solidFill>
                <a:latin typeface="Consolas" panose="020B0609020204030204" pitchFamily="49" charset="0"/>
              </a:rPr>
              <a:t>조회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DB18AD-5C9B-446D-A111-E8A3F2FA3F2E}"/>
              </a:ext>
            </a:extLst>
          </p:cNvPr>
          <p:cNvSpPr txBox="1"/>
          <p:nvPr/>
        </p:nvSpPr>
        <p:spPr>
          <a:xfrm>
            <a:off x="632433" y="3376273"/>
            <a:ext cx="3276383" cy="211203"/>
          </a:xfrm>
          <a:prstGeom prst="rect">
            <a:avLst/>
          </a:prstGeom>
          <a:noFill/>
        </p:spPr>
        <p:txBody>
          <a:bodyPr wrap="square" lIns="0" tIns="0" rIns="0" bIns="72000" rtlCol="0">
            <a:spAutoFit/>
          </a:bodyPr>
          <a:lstStyle/>
          <a:p>
            <a:pPr algn="l"/>
            <a:r>
              <a:rPr lang="ko-KR" altLang="en-US" sz="900" dirty="0"/>
              <a:t>개선 방안 </a:t>
            </a:r>
            <a:r>
              <a:rPr lang="en-US" altLang="ko-KR" sz="900" dirty="0"/>
              <a:t>: </a:t>
            </a:r>
            <a:r>
              <a:rPr lang="ko-KR" altLang="en-US" sz="900" dirty="0"/>
              <a:t>사용자가 </a:t>
            </a:r>
            <a:r>
              <a:rPr lang="ko-KR" altLang="en-US" sz="900" dirty="0" err="1"/>
              <a:t>의도했을때</a:t>
            </a:r>
            <a:r>
              <a:rPr lang="ko-KR" altLang="en-US" sz="900" dirty="0"/>
              <a:t> 기능이 동작하도록 개선한 예시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FAAC5B-66B8-4E2A-A1B3-BC0D5E0012D7}"/>
              </a:ext>
            </a:extLst>
          </p:cNvPr>
          <p:cNvSpPr/>
          <p:nvPr/>
        </p:nvSpPr>
        <p:spPr>
          <a:xfrm>
            <a:off x="5961000" y="2349000"/>
            <a:ext cx="2807999" cy="346221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금리보기 공통</a:t>
            </a:r>
          </a:p>
        </p:txBody>
      </p:sp>
      <p:graphicFrame>
        <p:nvGraphicFramePr>
          <p:cNvPr id="15" name="표 13">
            <a:extLst>
              <a:ext uri="{FF2B5EF4-FFF2-40B4-BE49-F238E27FC236}">
                <a16:creationId xmlns:a16="http://schemas.microsoft.com/office/drawing/2014/main" id="{5CFD2BA0-FC73-4A0F-BEFB-CFD3D112D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030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7AECB22-E82C-49CD-B0AC-8E0EA0726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000" y="3277066"/>
            <a:ext cx="4201112" cy="24214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예금 </a:t>
            </a:r>
            <a:r>
              <a:rPr lang="en-US" altLang="ko-KR" dirty="0"/>
              <a:t>- </a:t>
            </a:r>
            <a:r>
              <a:rPr lang="ko-KR" altLang="en-US" dirty="0"/>
              <a:t>금리보기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https://www.fsb.or.kr/ratedepo_0100.act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한 페이지에 같은 이름을 가진 링크가 여러 개 있어 스크린 리더 사용자가 목적지를 혼동할 수 있으므로 각각의 링크에 정확한 이름을 제공하여 개선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889001" y="4005000"/>
            <a:ext cx="216000" cy="169348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98366" y="3825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3039488"/>
            <a:ext cx="4104000" cy="2859465"/>
            <a:chOff x="631825" y="4319397"/>
            <a:chExt cx="4104000" cy="285946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  <a:r>
                <a:rPr lang="en-US" altLang="ko-KR" sz="900" dirty="0"/>
                <a:t>: JavaScript(ratedepo_0100.js)</a:t>
              </a:r>
              <a:endParaRPr lang="ko-KR" altLang="en-US" sz="900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264826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if(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dat.REC.length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&gt; 0){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for(var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= 0;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&lt;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dat.REC.length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++ ){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tbodyHtml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+= '&lt;tr&gt;';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tbodyHtml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+= '&lt;td class="table-detail"&gt;';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tbodyHtml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+= '&lt;div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chk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-wrap table-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chk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"&gt;';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tbodyHtml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+= '&lt;span class="label-wrap"&gt;';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tbodyHtml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+= '&lt;input type="checkbox"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chk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-basic"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name="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chk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tbseq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="' +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dat.REC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].TB_SEQ + '"id="BNK_' +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+'"&gt;';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tbodyHtml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+= '&lt;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class="icon-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chk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"&gt;&lt;/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&gt;';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tbodyHtml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+= '&lt;label for="BNK_' +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 '"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chk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-out"&gt;&lt;span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chk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-label"&gt;[' +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dat.REC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].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BANK_NAME.trim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() + '] ' + 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dat.REC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].PRODUCT_NAME + '&lt;/span&gt;&lt;/label&gt;';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tbodyHtml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+= '&lt;/span&gt;';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tbodyHtml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+= '&lt;/div&gt;';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tbodyHtml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+= '&lt;button type="button"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btn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-detail"&gt;&lt;span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[' + </a:t>
              </a:r>
              <a:r>
                <a:rPr lang="en-US" altLang="ko-KR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dat.REC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ko-KR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].</a:t>
              </a:r>
              <a:r>
                <a:rPr lang="en-US" altLang="ko-KR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BANK_NAME.trim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() + '] ' +  </a:t>
              </a:r>
              <a:r>
                <a:rPr lang="en-US" altLang="ko-KR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dat</a:t>
              </a:r>
              <a:endParaRPr lang="en-US" altLang="ko-KR" sz="800" b="1" i="0" dirty="0">
                <a:solidFill>
                  <a:schemeClr val="accent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.REC[</a:t>
              </a:r>
              <a:r>
                <a:rPr lang="en-US" altLang="ko-KR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].PRODUCT_NAME +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상세보기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&lt;/span&gt;&lt;/button&gt;';</a:t>
              </a: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27BA8B-3013-4389-9DC8-E399DF95BF83}"/>
              </a:ext>
            </a:extLst>
          </p:cNvPr>
          <p:cNvSpPr/>
          <p:nvPr/>
        </p:nvSpPr>
        <p:spPr>
          <a:xfrm>
            <a:off x="5961000" y="2349000"/>
            <a:ext cx="2807999" cy="346221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금리보기 공통</a:t>
            </a:r>
          </a:p>
        </p:txBody>
      </p:sp>
      <p:graphicFrame>
        <p:nvGraphicFramePr>
          <p:cNvPr id="20" name="표 13">
            <a:extLst>
              <a:ext uri="{FF2B5EF4-FFF2-40B4-BE49-F238E27FC236}">
                <a16:creationId xmlns:a16="http://schemas.microsoft.com/office/drawing/2014/main" id="{F7EDFC2D-07CC-4E77-A05D-EFAC4627A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463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F230CEC-347E-4E67-9DC4-2DBDEEF7D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00" y="3112539"/>
            <a:ext cx="3957696" cy="29084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금리대별 취급비중 </a:t>
            </a:r>
            <a:r>
              <a:rPr lang="en-US" altLang="ko-KR" dirty="0"/>
              <a:t>- </a:t>
            </a:r>
            <a:r>
              <a:rPr lang="ko-KR" altLang="en-US" dirty="0"/>
              <a:t>가계담보대출 </a:t>
            </a:r>
            <a:r>
              <a:rPr lang="en-US" altLang="ko-KR" dirty="0"/>
              <a:t>- </a:t>
            </a:r>
            <a:r>
              <a:rPr lang="ko-KR" altLang="en-US" dirty="0"/>
              <a:t>대출 </a:t>
            </a:r>
            <a:r>
              <a:rPr lang="en-US" altLang="ko-KR" dirty="0"/>
              <a:t>- </a:t>
            </a:r>
            <a:r>
              <a:rPr lang="ko-KR" altLang="en-US" dirty="0"/>
              <a:t>금리보기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https://www.fsb.or.kr/ratloanguar_0200.act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20. (</a:t>
            </a:r>
            <a:r>
              <a:rPr lang="ko-KR" altLang="en-US" dirty="0"/>
              <a:t>표의 구성</a:t>
            </a:r>
            <a:r>
              <a:rPr lang="en-US" altLang="ko-KR" dirty="0"/>
              <a:t>) </a:t>
            </a:r>
            <a:r>
              <a:rPr lang="ko-KR" altLang="en-US" dirty="0"/>
              <a:t>표는 이해하기 쉽게 구성해야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20-4 </a:t>
            </a:r>
            <a:r>
              <a:rPr lang="ko-KR" altLang="en-US"/>
              <a:t>다단</a:t>
            </a:r>
            <a:r>
              <a:rPr lang="en-US" altLang="ko-KR"/>
              <a:t>, </a:t>
            </a:r>
            <a:r>
              <a:rPr lang="ko-KR" altLang="en-US"/>
              <a:t>병합 등 복잡한 표를 제공 시 </a:t>
            </a:r>
            <a:r>
              <a:rPr lang="en-US" altLang="ko-KR"/>
              <a:t>headers, id </a:t>
            </a:r>
            <a:r>
              <a:rPr lang="ko-KR" altLang="en-US"/>
              <a:t>속성을 통해 제목 셀과 내용 셀을 연결하지 않은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제목 셀에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제공되고 있는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scope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속성이 잘못 제공되고 있으므로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올바르게 제공하여 개선해야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313000" y="3933001"/>
            <a:ext cx="3957695" cy="21600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89621" y="3753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3039488"/>
            <a:ext cx="4104000" cy="1369826"/>
            <a:chOff x="631825" y="4319397"/>
            <a:chExt cx="4104000" cy="136982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scope="row"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class="table-sort sort-down"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id="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bankNameSort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fncOrder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('BANKNAME', this);"&gt;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class="text text01"&gt;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정렬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27BA8B-3013-4389-9DC8-E399DF95BF83}"/>
              </a:ext>
            </a:extLst>
          </p:cNvPr>
          <p:cNvSpPr/>
          <p:nvPr/>
        </p:nvSpPr>
        <p:spPr>
          <a:xfrm>
            <a:off x="5313000" y="2349000"/>
            <a:ext cx="3744000" cy="481643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금리대별 취급비중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대출기한전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상환수수료율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및 연체이자율 현황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대출경로별 공시 공통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FF212F9-562A-4C06-A560-927B6C297529}"/>
              </a:ext>
            </a:extLst>
          </p:cNvPr>
          <p:cNvGrpSpPr/>
          <p:nvPr/>
        </p:nvGrpSpPr>
        <p:grpSpPr>
          <a:xfrm>
            <a:off x="632129" y="4790314"/>
            <a:ext cx="4104000" cy="1369826"/>
            <a:chOff x="631825" y="4319397"/>
            <a:chExt cx="4104000" cy="136982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F0D0B4-DACC-490A-A38B-53EC58CC9344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E61337A-C963-4789-958F-1C6A47FFCC9F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scope="col"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class="table-sort sort-down"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id="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bankNameSort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fncOrder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('BANKNAME', this);"&gt;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class="text text01"&gt;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정렬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23" name="표 13">
            <a:extLst>
              <a:ext uri="{FF2B5EF4-FFF2-40B4-BE49-F238E27FC236}">
                <a16:creationId xmlns:a16="http://schemas.microsoft.com/office/drawing/2014/main" id="{DD4233FD-15B0-4867-8AA3-80DFBA8AF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069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765DBF2-3C93-44EA-B67A-54308487E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807" y="3483244"/>
            <a:ext cx="3819193" cy="178448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상품별 금리현황 </a:t>
            </a:r>
            <a:r>
              <a:rPr lang="en-US" altLang="ko-KR" dirty="0"/>
              <a:t>- </a:t>
            </a:r>
            <a:r>
              <a:rPr lang="ko-KR" altLang="en-US" dirty="0"/>
              <a:t>가계신용대출 </a:t>
            </a:r>
            <a:r>
              <a:rPr lang="en-US" altLang="ko-KR" dirty="0"/>
              <a:t>- </a:t>
            </a:r>
            <a:r>
              <a:rPr lang="ko-KR" altLang="en-US" dirty="0"/>
              <a:t>대출 </a:t>
            </a:r>
            <a:r>
              <a:rPr lang="en-US" altLang="ko-KR" dirty="0"/>
              <a:t>- </a:t>
            </a:r>
            <a:r>
              <a:rPr lang="ko-KR" altLang="en-US" dirty="0"/>
              <a:t>금리보기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https://www.fsb.or.kr/ratloanconf_0100.act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20. (</a:t>
            </a:r>
            <a:r>
              <a:rPr lang="ko-KR" altLang="en-US" dirty="0"/>
              <a:t>표의 구성</a:t>
            </a:r>
            <a:r>
              <a:rPr lang="en-US" altLang="ko-KR" dirty="0"/>
              <a:t>) </a:t>
            </a:r>
            <a:r>
              <a:rPr lang="ko-KR" altLang="en-US" dirty="0"/>
              <a:t>표는 이해하기 쉽게 구성해야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20-4 </a:t>
            </a:r>
            <a:r>
              <a:rPr lang="ko-KR" altLang="en-US"/>
              <a:t>다단</a:t>
            </a:r>
            <a:r>
              <a:rPr lang="en-US" altLang="ko-KR"/>
              <a:t>, </a:t>
            </a:r>
            <a:r>
              <a:rPr lang="ko-KR" altLang="en-US"/>
              <a:t>병합 등 복잡한 표를 제공 시 </a:t>
            </a:r>
            <a:r>
              <a:rPr lang="en-US" altLang="ko-KR"/>
              <a:t>headers, id </a:t>
            </a:r>
            <a:r>
              <a:rPr lang="ko-KR" altLang="en-US"/>
              <a:t>속성을 통해 제목 셀과 내용 셀을 연결하지 않은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제목 셀에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제공되고 있는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scope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속성이 잘못 제공되고 있으므로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올바르게 제공하여 개선해야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8336999" y="3745139"/>
            <a:ext cx="720001" cy="40386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89000" y="3591244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3039488"/>
            <a:ext cx="4104000" cy="557424"/>
            <a:chOff x="631825" y="4319397"/>
            <a:chExt cx="4104000" cy="5574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scope="</a:t>
              </a:r>
              <a:r>
                <a:rPr lang="en-US" altLang="ko-KR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rowgroup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rowspan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="2"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colspan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="2"&gt;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구분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27BA8B-3013-4389-9DC8-E399DF95BF83}"/>
              </a:ext>
            </a:extLst>
          </p:cNvPr>
          <p:cNvSpPr/>
          <p:nvPr/>
        </p:nvSpPr>
        <p:spPr>
          <a:xfrm>
            <a:off x="5313000" y="2617867"/>
            <a:ext cx="3744000" cy="346221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저축은행별 금리현황 공통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FF212F9-562A-4C06-A560-927B6C297529}"/>
              </a:ext>
            </a:extLst>
          </p:cNvPr>
          <p:cNvGrpSpPr/>
          <p:nvPr/>
        </p:nvGrpSpPr>
        <p:grpSpPr>
          <a:xfrm>
            <a:off x="632129" y="3977912"/>
            <a:ext cx="4104000" cy="557424"/>
            <a:chOff x="631825" y="4319397"/>
            <a:chExt cx="4104000" cy="55742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F0D0B4-DACC-490A-A38B-53EC58CC9344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E61337A-C963-4789-958F-1C6A47FFCC9F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scope="col"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rowspan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="2"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colspan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="2"&gt;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구분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BE7551-2095-46CF-9C42-FC0DEAD9895A}"/>
              </a:ext>
            </a:extLst>
          </p:cNvPr>
          <p:cNvSpPr/>
          <p:nvPr/>
        </p:nvSpPr>
        <p:spPr>
          <a:xfrm>
            <a:off x="5385000" y="3745139"/>
            <a:ext cx="1223998" cy="40386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69D91AC-BB5C-4F03-BC58-6A8B2E6A7A2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88999" y="3591244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13">
            <a:extLst>
              <a:ext uri="{FF2B5EF4-FFF2-40B4-BE49-F238E27FC236}">
                <a16:creationId xmlns:a16="http://schemas.microsoft.com/office/drawing/2014/main" id="{2E713A5C-8259-459B-A1A9-253C8931B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893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1339B93-F61F-483E-A8E9-AB74D380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798" y="3468668"/>
            <a:ext cx="3819193" cy="17939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상품별 금리현황 </a:t>
            </a:r>
            <a:r>
              <a:rPr lang="en-US" altLang="ko-KR" dirty="0"/>
              <a:t>- </a:t>
            </a:r>
            <a:r>
              <a:rPr lang="ko-KR" altLang="en-US" dirty="0" err="1"/>
              <a:t>중금리</a:t>
            </a:r>
            <a:r>
              <a:rPr lang="ko-KR" altLang="en-US" dirty="0"/>
              <a:t> 신용대출 </a:t>
            </a:r>
            <a:r>
              <a:rPr lang="en-US" altLang="ko-KR" dirty="0"/>
              <a:t>- </a:t>
            </a:r>
            <a:r>
              <a:rPr lang="ko-KR" altLang="en-US" dirty="0"/>
              <a:t>대출 </a:t>
            </a:r>
            <a:r>
              <a:rPr lang="en-US" altLang="ko-KR" dirty="0"/>
              <a:t>- </a:t>
            </a:r>
            <a:r>
              <a:rPr lang="ko-KR" altLang="en-US" dirty="0"/>
              <a:t>금리보기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https://www.fsb.or.kr/ratloanrage_0200.act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20. (</a:t>
            </a:r>
            <a:r>
              <a:rPr lang="ko-KR" altLang="en-US" dirty="0"/>
              <a:t>표의 구성</a:t>
            </a:r>
            <a:r>
              <a:rPr lang="en-US" altLang="ko-KR" dirty="0"/>
              <a:t>) </a:t>
            </a:r>
            <a:r>
              <a:rPr lang="ko-KR" altLang="en-US" dirty="0"/>
              <a:t>표는 이해하기 쉽게 구성해야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20-4 </a:t>
            </a:r>
            <a:r>
              <a:rPr lang="ko-KR" altLang="en-US"/>
              <a:t>다단</a:t>
            </a:r>
            <a:r>
              <a:rPr lang="en-US" altLang="ko-KR"/>
              <a:t>, </a:t>
            </a:r>
            <a:r>
              <a:rPr lang="ko-KR" altLang="en-US"/>
              <a:t>병합 등 복잡한 표를 제공 시 </a:t>
            </a:r>
            <a:r>
              <a:rPr lang="en-US" altLang="ko-KR"/>
              <a:t>headers, id </a:t>
            </a:r>
            <a:r>
              <a:rPr lang="ko-KR" altLang="en-US"/>
              <a:t>속성을 통해 제목 셀과 내용 셀을 연결하지 않은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제목 셀에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제공되고 있는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scope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속성이 잘못 제공되고 있으므로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올바르게 제공하여 개선해야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313000" y="3807068"/>
            <a:ext cx="3957695" cy="34193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13538" y="3576668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3039488"/>
            <a:ext cx="4104000" cy="1369826"/>
            <a:chOff x="631825" y="4319397"/>
            <a:chExt cx="4104000" cy="136982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scope="</a:t>
              </a:r>
              <a:r>
                <a:rPr lang="en-US" altLang="ko-KR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rowgroup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rowspan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="2"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colspan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="2"&gt;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javascript:search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(this, '',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'sort');" class="table-sort sort-up"&gt;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class="text text01"&gt;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정렬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27BA8B-3013-4389-9DC8-E399DF95BF83}"/>
              </a:ext>
            </a:extLst>
          </p:cNvPr>
          <p:cNvSpPr/>
          <p:nvPr/>
        </p:nvSpPr>
        <p:spPr>
          <a:xfrm>
            <a:off x="5313000" y="2684943"/>
            <a:ext cx="3744000" cy="346093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연간취급현황 공통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FF212F9-562A-4C06-A560-927B6C297529}"/>
              </a:ext>
            </a:extLst>
          </p:cNvPr>
          <p:cNvGrpSpPr/>
          <p:nvPr/>
        </p:nvGrpSpPr>
        <p:grpSpPr>
          <a:xfrm>
            <a:off x="632129" y="4790314"/>
            <a:ext cx="4104000" cy="1369826"/>
            <a:chOff x="631825" y="4319397"/>
            <a:chExt cx="4104000" cy="136982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F0D0B4-DACC-490A-A38B-53EC58CC9344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E61337A-C963-4789-958F-1C6A47FFCC9F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scope="col"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rowspan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="2"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colspan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="2"&gt;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javascript:search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(this, '',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'sort');" class="table-sort sort-up"&gt;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class="text text01"&gt;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정렬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23" name="표 13">
            <a:extLst>
              <a:ext uri="{FF2B5EF4-FFF2-40B4-BE49-F238E27FC236}">
                <a16:creationId xmlns:a16="http://schemas.microsoft.com/office/drawing/2014/main" id="{42B6E6CD-162B-4E17-ADDC-ADF5D56AC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230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0A1D4C6-8F01-4CCB-8A8A-90234E630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250" y="3618824"/>
            <a:ext cx="3819193" cy="234297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정기예금 </a:t>
            </a:r>
            <a:r>
              <a:rPr lang="en-US" altLang="ko-KR" dirty="0"/>
              <a:t>- </a:t>
            </a:r>
            <a:r>
              <a:rPr lang="ko-KR" altLang="en-US" dirty="0"/>
              <a:t>맞춤상품검색 </a:t>
            </a:r>
            <a:r>
              <a:rPr lang="en-US" altLang="ko-KR" dirty="0"/>
              <a:t>- </a:t>
            </a:r>
            <a:r>
              <a:rPr lang="ko-KR" altLang="en-US" dirty="0"/>
              <a:t>금리보기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https://www.fsb.or.kr/ratcodi_0100.act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20. (</a:t>
            </a:r>
            <a:r>
              <a:rPr lang="ko-KR" altLang="en-US" dirty="0"/>
              <a:t>표의 구성</a:t>
            </a:r>
            <a:r>
              <a:rPr lang="en-US" altLang="ko-KR" dirty="0"/>
              <a:t>) </a:t>
            </a:r>
            <a:r>
              <a:rPr lang="ko-KR" altLang="en-US" dirty="0"/>
              <a:t>표는 이해하기 쉽게 구성해야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20-4 </a:t>
            </a:r>
            <a:r>
              <a:rPr lang="ko-KR" altLang="en-US"/>
              <a:t>다단</a:t>
            </a:r>
            <a:r>
              <a:rPr lang="en-US" altLang="ko-KR"/>
              <a:t>, </a:t>
            </a:r>
            <a:r>
              <a:rPr lang="ko-KR" altLang="en-US"/>
              <a:t>병합 등 복잡한 표를 제공 시 </a:t>
            </a:r>
            <a:r>
              <a:rPr lang="en-US" altLang="ko-KR"/>
              <a:t>headers, id </a:t>
            </a:r>
            <a:r>
              <a:rPr lang="ko-KR" altLang="en-US"/>
              <a:t>속성을 통해 제목 셀과 내용 셀을 연결하지 않은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제목 셀에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제공되고 있는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scope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속성이 잘못 제공되고 있으므로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올바르게 제공하여 개선해야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333720" y="3930521"/>
            <a:ext cx="3957695" cy="43510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13538" y="3726824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3039488"/>
            <a:ext cx="4104000" cy="1369826"/>
            <a:chOff x="631825" y="4319397"/>
            <a:chExt cx="4104000" cy="136982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scope="row"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rowspan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="2"&gt;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class="table-sort sort-up" 	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fncOrder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('BANKNAME', this);"&gt;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class="text text01"&gt;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정렬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27BA8B-3013-4389-9DC8-E399DF95BF83}"/>
              </a:ext>
            </a:extLst>
          </p:cNvPr>
          <p:cNvSpPr/>
          <p:nvPr/>
        </p:nvSpPr>
        <p:spPr>
          <a:xfrm>
            <a:off x="5313000" y="2684943"/>
            <a:ext cx="3744000" cy="346093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정기예금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적금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주택담보대출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중금리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신용대출 공통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FF212F9-562A-4C06-A560-927B6C297529}"/>
              </a:ext>
            </a:extLst>
          </p:cNvPr>
          <p:cNvGrpSpPr/>
          <p:nvPr/>
        </p:nvGrpSpPr>
        <p:grpSpPr>
          <a:xfrm>
            <a:off x="632129" y="4790314"/>
            <a:ext cx="4104000" cy="1369826"/>
            <a:chOff x="631825" y="4319397"/>
            <a:chExt cx="4104000" cy="136982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F0D0B4-DACC-490A-A38B-53EC58CC9344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E61337A-C963-4789-958F-1C6A47FFCC9F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scope="col"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rowspan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="2"&gt;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class="table-sort sort-up" 	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fncOrder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('BANKNAME', this);"&gt;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class="text text01"&gt;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정렬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th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23" name="표 13">
            <a:extLst>
              <a:ext uri="{FF2B5EF4-FFF2-40B4-BE49-F238E27FC236}">
                <a16:creationId xmlns:a16="http://schemas.microsoft.com/office/drawing/2014/main" id="{16F62BD8-E609-4833-9CD2-DA34EF8CD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0383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2988AA7-A7A4-44EF-863D-40112A5D9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690" y="2194723"/>
            <a:ext cx="2458622" cy="425827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 찾기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https://www.fsb.or.kr/ratedepo_0100.act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1-1 &lt;img&gt;,&lt;input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</a:t>
            </a:r>
            <a:r>
              <a:rPr lang="ko-KR" altLang="en-US"/>
              <a:t>속성은 선언되었으나 그 내용이 </a:t>
            </a:r>
            <a:r>
              <a:rPr lang="en-US" altLang="ko-KR"/>
              <a:t>img</a:t>
            </a:r>
            <a:r>
              <a:rPr lang="ko-KR" altLang="en-US"/>
              <a:t>의 내용을 대체할 수 없는 경우 그리고 오타로 표기되어 의미가 변경된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3291"/>
          </a:xfrm>
        </p:spPr>
        <p:txBody>
          <a:bodyPr/>
          <a:lstStyle/>
          <a:p>
            <a:r>
              <a:rPr lang="ko-KR" altLang="en-US" dirty="0"/>
              <a:t>이미지가 전달하고자 하는 정보와 동등한 수준의 설명을 대체 텍스트로 제공해야 함</a:t>
            </a:r>
          </a:p>
          <a:p>
            <a:r>
              <a:rPr lang="ko-KR" altLang="en-US" dirty="0"/>
              <a:t>이미지에 표현되어 있는 정보가 복잡한 경우</a:t>
            </a:r>
            <a:r>
              <a:rPr lang="en-US" altLang="ko-KR" dirty="0"/>
              <a:t>, IR </a:t>
            </a:r>
            <a:r>
              <a:rPr lang="ko-KR" altLang="en-US" dirty="0"/>
              <a:t>기법으로 대체 텍스트</a:t>
            </a:r>
            <a:r>
              <a:rPr lang="en-US" altLang="ko-KR" dirty="0"/>
              <a:t>(</a:t>
            </a:r>
            <a:r>
              <a:rPr lang="ko-KR" altLang="en-US" dirty="0"/>
              <a:t>숨김 텍스트</a:t>
            </a:r>
            <a:r>
              <a:rPr lang="en-US" altLang="ko-KR" dirty="0"/>
              <a:t>)</a:t>
            </a:r>
            <a:r>
              <a:rPr lang="ko-KR" altLang="en-US" dirty="0"/>
              <a:t>를 제공하는 것이 바람직함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6861810" y="3933000"/>
            <a:ext cx="749009" cy="504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49000" y="3681001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315797"/>
            <a:ext cx="4104000" cy="1234405"/>
            <a:chOff x="631825" y="4319397"/>
            <a:chExt cx="4104000" cy="123440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&lt;map id="daum.maps.Marker.Area:5" name="daum.maps.Marker.Area:5"&gt;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&lt;area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javascript:void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(0)" alt="" shape="poly" 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coords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="14,39,9,27,4,21,1,16,1,10,4,4,11,0,18,0,25,4,28,10,28,16,2	5,21,20,27" title="" style="-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webkit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-tap-highlight-color: 	transparent;"&gt;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&lt;/map&gt;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851965"/>
            <a:ext cx="4104000" cy="1505376"/>
            <a:chOff x="631825" y="4319397"/>
            <a:chExt cx="4104000" cy="150537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29417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&lt;map id="daum.maps.Marker.Area:5" name="daum.maps.Marker.Area:5"&gt;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&lt;area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javascript:void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(0)" alt="" shape="poly" 	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coords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="14,39,9,27,4,21,1,16,1,10,4,4,11,0,18,0,25,4,28,10,28,16,2	5,21,20,27" title="" style="-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webkit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-tap-highlight-color: 	transparent;" alt="BNK(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서울영업부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)"&gt;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&lt;/map&gt;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endParaRPr lang="en-US" altLang="ko-KR" sz="800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b="1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!--</a:t>
              </a:r>
              <a:r>
                <a:rPr lang="ko-KR" altLang="en-US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 개선안 이어서 </a:t>
              </a: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--&gt;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E8BF1C95-095A-4663-93EB-598052C0D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913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저축은행 찾기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https://www.fsb.or.kr/ratedepo_0100.act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1-1 &lt;img&gt;,&lt;input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</a:t>
            </a:r>
            <a:r>
              <a:rPr lang="ko-KR" altLang="en-US"/>
              <a:t>속성은 선언되었으나 그 내용이 </a:t>
            </a:r>
            <a:r>
              <a:rPr lang="en-US" altLang="ko-KR"/>
              <a:t>img</a:t>
            </a:r>
            <a:r>
              <a:rPr lang="ko-KR" altLang="en-US"/>
              <a:t>의 내용을 대체할 수 없는 경우 그리고 오타로 표기되어 의미가 변경된 경우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2123302"/>
            <a:ext cx="4104000" cy="1098983"/>
            <a:chOff x="631825" y="4319397"/>
            <a:chExt cx="4104000" cy="109898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  <a:r>
                <a:rPr lang="en-US" altLang="ko-KR" sz="900"/>
                <a:t>: JavaScript(cosfindquic_0100.js)</a:t>
              </a:r>
              <a:endParaRPr lang="ko-KR" altLang="en-US" sz="900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// 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접근성 코드 수정 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$('#map area').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attr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('alt', 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bankName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+ '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상세 </a:t>
              </a:r>
              <a:r>
                <a:rPr lang="ko-KR" altLang="en-US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툴팁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열기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');</a:t>
              </a:r>
              <a:endParaRPr lang="ko-KR" altLang="en-US" sz="800" b="1" dirty="0">
                <a:solidFill>
                  <a:schemeClr val="accent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$('#map area').on('click', function ()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	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infowindow.close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();	// 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인포윈도우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닫기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0892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F3E88A4-CB54-42F8-8C24-E5547558A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88" y="3717000"/>
            <a:ext cx="4201112" cy="1739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법률 등 </a:t>
            </a:r>
            <a:r>
              <a:rPr lang="en-US" altLang="ko-KR" dirty="0"/>
              <a:t>-</a:t>
            </a:r>
            <a:r>
              <a:rPr lang="ko-KR" altLang="en-US" dirty="0"/>
              <a:t>법규정보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https://www.fsb.or.kr/coslegianno_0100.act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16.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3291"/>
          </a:xfr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</a:p>
          <a:p>
            <a:r>
              <a:rPr lang="ko-KR" altLang="en-US" dirty="0"/>
              <a:t>스크린 리더가 사용할 수 있는 형태로 링크의 상태에 관한 부가 설명을 제공해야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240999" y="4914353"/>
            <a:ext cx="4032871" cy="22638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49000" y="468017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401650"/>
            <a:ext cx="4104000" cy="963561"/>
            <a:chOff x="631825" y="4319397"/>
            <a:chExt cx="4104000" cy="96356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&lt;li class="tab-basic-buttons-item is-tab-basic-active"&gt;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="finstepcons_0100.act" class="tab-basic-buttons-item-link"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예적금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예적금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&lt;/li&gt;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572170"/>
            <a:ext cx="4104000" cy="963561"/>
            <a:chOff x="631825" y="4319397"/>
            <a:chExt cx="4104000" cy="96356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&lt;li class="tab-basic-buttons-item is-tab-basic-active"&gt;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="finstepcons_0100.act" class="tab-basic-buttons-item-link"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예적금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&lt;/li&gt;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80B940A-9B61-47CC-B520-25BFE310530B}"/>
              </a:ext>
            </a:extLst>
          </p:cNvPr>
          <p:cNvGrpSpPr/>
          <p:nvPr/>
        </p:nvGrpSpPr>
        <p:grpSpPr>
          <a:xfrm>
            <a:off x="625727" y="5747843"/>
            <a:ext cx="4104000" cy="557424"/>
            <a:chOff x="631825" y="4319397"/>
            <a:chExt cx="4104000" cy="55742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D68DB6-C9DF-4734-A049-48FE9858830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  <a:r>
                <a:rPr lang="en-US" altLang="ko-KR" sz="900" dirty="0"/>
                <a:t> : JavaScript</a:t>
              </a:r>
              <a:endParaRPr lang="ko-KR" altLang="en-US" sz="900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641B3C0-2DCC-45BD-BD28-3867AAC9BE34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$('.</a:t>
              </a:r>
              <a:r>
                <a:rPr lang="en-US" altLang="ko-KR" sz="800" b="0" i="0" dirty="0">
                  <a:solidFill>
                    <a:srgbClr val="202124"/>
                  </a:solidFill>
                  <a:effectLst/>
                  <a:latin typeface="consolas" panose="020B0609020204030204" pitchFamily="49" charset="0"/>
                </a:rPr>
                <a:t>is-tab-basic-active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').children('a').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attr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('title', '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선택됨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');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84B344F-A0E4-45FD-9540-BABF884D9F13}"/>
              </a:ext>
            </a:extLst>
          </p:cNvPr>
          <p:cNvSpPr/>
          <p:nvPr/>
        </p:nvSpPr>
        <p:spPr>
          <a:xfrm>
            <a:off x="5961000" y="2599815"/>
            <a:ext cx="2807999" cy="346221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탭 공통</a:t>
            </a:r>
          </a:p>
        </p:txBody>
      </p:sp>
      <p:graphicFrame>
        <p:nvGraphicFramePr>
          <p:cNvPr id="23" name="표 13">
            <a:extLst>
              <a:ext uri="{FF2B5EF4-FFF2-40B4-BE49-F238E27FC236}">
                <a16:creationId xmlns:a16="http://schemas.microsoft.com/office/drawing/2014/main" id="{34B56EAC-18A2-4E72-87D8-49762F710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532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0C3A910-9819-4AFA-8CBE-EDC87262D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88" y="3141641"/>
            <a:ext cx="4201112" cy="273535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표준약관 </a:t>
            </a:r>
            <a:r>
              <a:rPr lang="en-US" altLang="ko-KR" dirty="0"/>
              <a:t>- </a:t>
            </a:r>
            <a:r>
              <a:rPr lang="ko-KR" altLang="en-US" dirty="0"/>
              <a:t>법규정보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https://www.fsb.or.kr/coslegianno_0100.act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한 페이지에 같은 이름을 가진 링크가 여러 개 있어 스크린 리더 사용자가 목적지를 혼동할 수 있으므로 각각의 링크에 정확한 이름을 제공하여 개선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8265001" y="4138470"/>
            <a:ext cx="575999" cy="173852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45000" y="3969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1098983"/>
            <a:chOff x="631825" y="4319397"/>
            <a:chExt cx="4104000" cy="109898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FileDown.jsp?SAVE_FILE_NM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=23421398020211830135652.pdf&amp;amp;ORCP_FILE_NM=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 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오픈뱅킹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서비스 이용약관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(210428).pdf&amp;amp;DSTC1=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title="PDF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class="btn-style09"&gt;&lt;span&gt;PDF&lt;/span&gt;&lt;/a&gt;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519471"/>
            <a:ext cx="4104000" cy="1098983"/>
            <a:chOff x="631825" y="4319397"/>
            <a:chExt cx="4104000" cy="109898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FileDown.jsp?SAVE_FILE_NM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=23421398020211830135652.pdf&amp;amp;ORCP_FILE_NM=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 </a:t>
              </a:r>
              <a:r>
                <a:rPr lang="ko-KR" altLang="en-US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오픈뱅킹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서비스 이용약관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(210428).pdf&amp;amp;DSTC1=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 저축은행 </a:t>
              </a:r>
              <a:r>
                <a:rPr lang="ko-KR" altLang="en-US" sz="800" b="1" i="0" dirty="0" err="1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오픈뱅킹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 서비스 이용약관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PDF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class="btn-style09"&gt;&lt;span&gt;PDF&lt;/span&gt;&lt;/a&gt;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600404-D8DC-4D5F-A2B3-1D33D880F364}"/>
              </a:ext>
            </a:extLst>
          </p:cNvPr>
          <p:cNvSpPr/>
          <p:nvPr/>
        </p:nvSpPr>
        <p:spPr>
          <a:xfrm>
            <a:off x="5673000" y="2567167"/>
            <a:ext cx="2880000" cy="346221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모범규준 및 공시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HWP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다운로드 공통</a:t>
            </a:r>
          </a:p>
        </p:txBody>
      </p: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E13A5A1F-F604-40D1-B70C-3A70CC8FF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951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2BFB1B7-26C3-42C2-A691-B60879CEF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00" y="3390851"/>
            <a:ext cx="4215855" cy="203264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시니어소식</a:t>
            </a:r>
            <a:r>
              <a:rPr lang="en-US" altLang="ko-KR" dirty="0"/>
              <a:t> - </a:t>
            </a:r>
            <a:r>
              <a:rPr lang="ko-KR" altLang="en-US" dirty="0"/>
              <a:t>시니어코너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https://www.fsb.or.kr/cosseninews_0100.act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5. (</a:t>
            </a:r>
            <a:r>
              <a:rPr lang="ko-KR" altLang="en-US"/>
              <a:t>텍스트 콘텐츠의 명도 대비</a:t>
            </a:r>
            <a:r>
              <a:rPr lang="en-US" altLang="ko-KR"/>
              <a:t>) </a:t>
            </a:r>
            <a:r>
              <a:rPr lang="ko-KR" altLang="en-US"/>
              <a:t>텍스트 콘텐츠와 배경 간의 명도 대비는 </a:t>
            </a:r>
            <a:r>
              <a:rPr lang="en-US" altLang="ko-KR"/>
              <a:t>4.5</a:t>
            </a:r>
            <a:r>
              <a:rPr lang="ko-KR" altLang="en-US"/>
              <a:t>대 </a:t>
            </a:r>
            <a:r>
              <a:rPr lang="en-US" altLang="ko-KR"/>
              <a:t>1 </a:t>
            </a:r>
            <a:r>
              <a:rPr lang="ko-KR" altLang="en-US"/>
              <a:t>이상이어야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5-3 </a:t>
            </a:r>
            <a:r>
              <a:rPr lang="ko-KR" altLang="en-US"/>
              <a:t>이미지 텍스트의 경우 폰트 종류와 상관없이 </a:t>
            </a:r>
            <a:r>
              <a:rPr lang="en-US" altLang="ko-KR"/>
              <a:t>14pt </a:t>
            </a:r>
            <a:r>
              <a:rPr lang="ko-KR" altLang="en-US"/>
              <a:t>크기에 해당하는 </a:t>
            </a:r>
            <a:r>
              <a:rPr lang="en-US" altLang="ko-KR"/>
              <a:t>18.66px </a:t>
            </a:r>
            <a:r>
              <a:rPr lang="ko-KR" altLang="en-US"/>
              <a:t>미만인 경우 </a:t>
            </a:r>
            <a:r>
              <a:rPr lang="en-US" altLang="ko-KR"/>
              <a:t>4.5:1 </a:t>
            </a:r>
            <a:r>
              <a:rPr lang="ko-KR" altLang="en-US"/>
              <a:t>이상을 만족하지 않은 경우나</a:t>
            </a:r>
            <a:r>
              <a:rPr lang="en-US" altLang="ko-KR"/>
              <a:t>, 18.66px </a:t>
            </a:r>
            <a:r>
              <a:rPr lang="ko-KR" altLang="en-US"/>
              <a:t>이상인 경우 </a:t>
            </a:r>
            <a:r>
              <a:rPr lang="en-US" altLang="ko-KR"/>
              <a:t>3:1 </a:t>
            </a:r>
            <a:r>
              <a:rPr lang="ko-KR" altLang="en-US"/>
              <a:t>이상을 만족하지 않은 경우</a:t>
            </a:r>
            <a:r>
              <a:rPr lang="en-US" altLang="ko-KR"/>
              <a:t>(</a:t>
            </a:r>
            <a:r>
              <a:rPr lang="ko-KR" altLang="en-US"/>
              <a:t>굵은 </a:t>
            </a:r>
            <a:r>
              <a:rPr lang="en-US" altLang="ko-KR"/>
              <a:t>14pt </a:t>
            </a:r>
            <a:r>
              <a:rPr lang="ko-KR" altLang="en-US"/>
              <a:t>기준은 적용하지 않음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ko-KR" altLang="en-US" dirty="0"/>
              <a:t>이미지 텍스트</a:t>
            </a:r>
            <a:r>
              <a:rPr lang="en-US" altLang="ko-KR" dirty="0"/>
              <a:t>(#DEE726)</a:t>
            </a:r>
            <a:r>
              <a:rPr lang="ko-KR" altLang="en-US" dirty="0"/>
              <a:t>와 배경</a:t>
            </a:r>
            <a:r>
              <a:rPr lang="en-US" altLang="ko-KR" dirty="0"/>
              <a:t>(#39B0B6) </a:t>
            </a:r>
            <a:r>
              <a:rPr lang="ko-KR" altLang="en-US" dirty="0"/>
              <a:t>간 명도대비가 </a:t>
            </a:r>
            <a:r>
              <a:rPr lang="en-US" altLang="ko-KR" dirty="0"/>
              <a:t>1.9:1</a:t>
            </a:r>
            <a:r>
              <a:rPr lang="ko-KR" altLang="en-US" dirty="0"/>
              <a:t>로 최소 명도대비 기준을 충족하지 않음</a:t>
            </a:r>
          </a:p>
          <a:p>
            <a:r>
              <a:rPr lang="ko-KR" altLang="en-US" dirty="0"/>
              <a:t>명도대비 기준을 충족하도록 텍스트 색상을 변경해야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7473001" y="3645001"/>
            <a:ext cx="1656000" cy="432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57000" y="3429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866FC0-6B11-41B4-880E-30FFEF169863}"/>
              </a:ext>
            </a:extLst>
          </p:cNvPr>
          <p:cNvSpPr/>
          <p:nvPr/>
        </p:nvSpPr>
        <p:spPr>
          <a:xfrm>
            <a:off x="5385000" y="3724002"/>
            <a:ext cx="1656000" cy="85699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7620A6F-1278-4AA6-BA76-F8FD5787073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68999" y="3508002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88000CBC-AFD1-40BD-9A4C-C1961C8EF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226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C9FCDA98-7CC3-4FCD-A3B2-7AA0457DF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573" y="3054161"/>
            <a:ext cx="4201112" cy="26185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보이스피싱예방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https://www.fsb.or.kr/cosboyfpred_0100.act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한 페이지에 같은 이름을 가진 링크가 여러 개 있어 스크린 리더 사용자가 목적지를 혼동할 수 있으므로 각각의 링크에 정확한 이름을 제공하여 개선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313000" y="3573001"/>
            <a:ext cx="3960567" cy="205929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49000" y="3420804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1505376"/>
            <a:chOff x="631825" y="4319397"/>
            <a:chExt cx="4104000" cy="150537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129417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class="pro-accordion-opener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ui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-accordion-opener"&gt;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"&gt;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열기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en-US" altLang="ko-KR" sz="800" i="0" dirty="0"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&lt;span class="component-layer-close-button-text"&gt;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닫기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807402"/>
            <a:ext cx="4104000" cy="1640670"/>
            <a:chOff x="631825" y="4319397"/>
            <a:chExt cx="4104000" cy="164067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42946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class="pro-accordion-opener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ui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-accordion-opener"&gt;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최근 유행하는 보이스피싱 수법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[1]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열기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en-US" altLang="ko-KR" sz="800" i="0" dirty="0"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class="component-layer-close-button-text"&gt;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 최근 유행하는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	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보이스피싱 수법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[1]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닫기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4B691CEF-DE39-4764-ADF0-0B84B5107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7433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C2A011D-EC22-4DBC-9F05-36521873C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014" y="3443033"/>
            <a:ext cx="4119061" cy="202188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홍보마당 </a:t>
            </a:r>
            <a:r>
              <a:rPr lang="en-US" altLang="ko-KR" dirty="0"/>
              <a:t>- </a:t>
            </a:r>
            <a:r>
              <a:rPr lang="ko-KR" altLang="en-US" dirty="0"/>
              <a:t>금융교육정보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https://www.fsb.or.kr/cosedifprom_0100.act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5. (</a:t>
            </a:r>
            <a:r>
              <a:rPr lang="ko-KR" altLang="en-US"/>
              <a:t>텍스트 콘텐츠의 명도 대비</a:t>
            </a:r>
            <a:r>
              <a:rPr lang="en-US" altLang="ko-KR"/>
              <a:t>) </a:t>
            </a:r>
            <a:r>
              <a:rPr lang="ko-KR" altLang="en-US"/>
              <a:t>텍스트 콘텐츠와 배경 간의 명도 대비는 </a:t>
            </a:r>
            <a:r>
              <a:rPr lang="en-US" altLang="ko-KR"/>
              <a:t>4.5</a:t>
            </a:r>
            <a:r>
              <a:rPr lang="ko-KR" altLang="en-US"/>
              <a:t>대 </a:t>
            </a:r>
            <a:r>
              <a:rPr lang="en-US" altLang="ko-KR"/>
              <a:t>1 </a:t>
            </a:r>
            <a:r>
              <a:rPr lang="ko-KR" altLang="en-US"/>
              <a:t>이상이어야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5-3 </a:t>
            </a:r>
            <a:r>
              <a:rPr lang="ko-KR" altLang="en-US"/>
              <a:t>이미지 텍스트의 경우 폰트 종류와 상관없이 </a:t>
            </a:r>
            <a:r>
              <a:rPr lang="en-US" altLang="ko-KR"/>
              <a:t>14pt </a:t>
            </a:r>
            <a:r>
              <a:rPr lang="ko-KR" altLang="en-US"/>
              <a:t>크기에 해당하는 </a:t>
            </a:r>
            <a:r>
              <a:rPr lang="en-US" altLang="ko-KR"/>
              <a:t>18.66px </a:t>
            </a:r>
            <a:r>
              <a:rPr lang="ko-KR" altLang="en-US"/>
              <a:t>미만인 경우 </a:t>
            </a:r>
            <a:r>
              <a:rPr lang="en-US" altLang="ko-KR"/>
              <a:t>4.5:1 </a:t>
            </a:r>
            <a:r>
              <a:rPr lang="ko-KR" altLang="en-US"/>
              <a:t>이상을 만족하지 않은 경우나</a:t>
            </a:r>
            <a:r>
              <a:rPr lang="en-US" altLang="ko-KR"/>
              <a:t>, 18.66px </a:t>
            </a:r>
            <a:r>
              <a:rPr lang="ko-KR" altLang="en-US"/>
              <a:t>이상인 경우 </a:t>
            </a:r>
            <a:r>
              <a:rPr lang="en-US" altLang="ko-KR"/>
              <a:t>3:1 </a:t>
            </a:r>
            <a:r>
              <a:rPr lang="ko-KR" altLang="en-US"/>
              <a:t>이상을 만족하지 않은 경우</a:t>
            </a:r>
            <a:r>
              <a:rPr lang="en-US" altLang="ko-KR"/>
              <a:t>(</a:t>
            </a:r>
            <a:r>
              <a:rPr lang="ko-KR" altLang="en-US"/>
              <a:t>굵은 </a:t>
            </a:r>
            <a:r>
              <a:rPr lang="en-US" altLang="ko-KR"/>
              <a:t>14pt </a:t>
            </a:r>
            <a:r>
              <a:rPr lang="ko-KR" altLang="en-US"/>
              <a:t>기준은 적용하지 않음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ko-KR" altLang="en-US" dirty="0"/>
              <a:t>이미지 텍스트</a:t>
            </a:r>
            <a:r>
              <a:rPr lang="en-US" altLang="ko-KR" dirty="0"/>
              <a:t>(FFFFFF)</a:t>
            </a:r>
            <a:r>
              <a:rPr lang="ko-KR" altLang="en-US" dirty="0"/>
              <a:t>와 배경</a:t>
            </a:r>
            <a:r>
              <a:rPr lang="en-US" altLang="ko-KR" dirty="0"/>
              <a:t>(#65D2E5) </a:t>
            </a:r>
            <a:r>
              <a:rPr lang="ko-KR" altLang="en-US" dirty="0"/>
              <a:t>간 명도대비가 </a:t>
            </a:r>
            <a:r>
              <a:rPr lang="en-US" altLang="ko-KR" dirty="0"/>
              <a:t>1.8:1</a:t>
            </a:r>
            <a:r>
              <a:rPr lang="ko-KR" altLang="en-US" dirty="0"/>
              <a:t>로 최소 명도대비 기준을 충족하지 않음</a:t>
            </a:r>
          </a:p>
          <a:p>
            <a:r>
              <a:rPr lang="ko-KR" altLang="en-US" dirty="0"/>
              <a:t>명도대비 기준을 충족하도록 텍스트 색상을 변경해야 함</a:t>
            </a:r>
            <a:endParaRPr lang="en-US" altLang="ko-KR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866FC0-6B11-41B4-880E-30FFEF169863}"/>
              </a:ext>
            </a:extLst>
          </p:cNvPr>
          <p:cNvSpPr/>
          <p:nvPr/>
        </p:nvSpPr>
        <p:spPr>
          <a:xfrm>
            <a:off x="5385000" y="3501001"/>
            <a:ext cx="1944000" cy="360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7620A6F-1278-4AA6-BA76-F8FD5787073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64896" y="3321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B830A2-28FC-4BB6-8009-5AE8312C9856}"/>
              </a:ext>
            </a:extLst>
          </p:cNvPr>
          <p:cNvSpPr/>
          <p:nvPr/>
        </p:nvSpPr>
        <p:spPr>
          <a:xfrm>
            <a:off x="7437537" y="3501000"/>
            <a:ext cx="1944000" cy="129599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3E273A7-9289-4E78-AE51-2C657CE0D51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17433" y="3321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E84EA7CD-CCEF-4BBA-AF62-FC263B67F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9874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B3F17EE-70C8-44A2-9BC5-66A51698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275" y="2853000"/>
            <a:ext cx="3440278" cy="29084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홍보마당 </a:t>
            </a:r>
            <a:r>
              <a:rPr lang="en-US" altLang="ko-KR" dirty="0"/>
              <a:t>- </a:t>
            </a:r>
            <a:r>
              <a:rPr lang="ko-KR" altLang="en-US" dirty="0"/>
              <a:t>금융교육정보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https://www.fsb.or.kr/cosedifprom_0100.act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1-1 &lt;img&gt;,&lt;input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</a:t>
            </a:r>
            <a:r>
              <a:rPr lang="ko-KR" altLang="en-US"/>
              <a:t>속성은 선언되었으나 그 내용이 </a:t>
            </a:r>
            <a:r>
              <a:rPr lang="en-US" altLang="ko-KR"/>
              <a:t>img</a:t>
            </a:r>
            <a:r>
              <a:rPr lang="ko-KR" altLang="en-US"/>
              <a:t>의 내용을 대체할 수 없는 경우 그리고 오타로 표기되어 의미가 변경된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3291"/>
          </a:xfrm>
        </p:spPr>
        <p:txBody>
          <a:bodyPr/>
          <a:lstStyle/>
          <a:p>
            <a:r>
              <a:rPr lang="ko-KR" altLang="en-US" dirty="0"/>
              <a:t>이미지가 전달하고자 하는 정보와 동등한 수준의 설명을 대체 텍스트로 제공해야 함</a:t>
            </a:r>
          </a:p>
          <a:p>
            <a:r>
              <a:rPr lang="ko-KR" altLang="en-US" dirty="0"/>
              <a:t>이미지에 표현되어 있는 정보가 복잡한 경우</a:t>
            </a:r>
            <a:r>
              <a:rPr lang="en-US" altLang="ko-KR" dirty="0"/>
              <a:t>, IR </a:t>
            </a:r>
            <a:r>
              <a:rPr lang="ko-KR" altLang="en-US" dirty="0"/>
              <a:t>기법으로 대체 텍스트</a:t>
            </a:r>
            <a:r>
              <a:rPr lang="en-US" altLang="ko-KR" dirty="0"/>
              <a:t>(</a:t>
            </a:r>
            <a:r>
              <a:rPr lang="ko-KR" altLang="en-US" dirty="0"/>
              <a:t>숨김 텍스트</a:t>
            </a:r>
            <a:r>
              <a:rPr lang="en-US" altLang="ko-KR" dirty="0"/>
              <a:t>)</a:t>
            </a:r>
            <a:r>
              <a:rPr lang="ko-KR" altLang="en-US" dirty="0"/>
              <a:t>를 제공하는 것이 바람직함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718368" y="3555244"/>
            <a:ext cx="2304000" cy="226250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53810" y="3429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460116"/>
            <a:ext cx="4104000" cy="828140"/>
            <a:chOff x="631825" y="4319397"/>
            <a:chExt cx="4104000" cy="8281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src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fileViewFsb.jsp?FILE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=440919387202132614280.png&amp;amp;DSTC1=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"="" alt=""&gt;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669256"/>
            <a:ext cx="4104000" cy="963689"/>
            <a:chOff x="631825" y="4319397"/>
            <a:chExt cx="4104000" cy="96368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752486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img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src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fileViewFsb.jsp?FILE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=440919387202132614280.png&amp;amp;DSTC1=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"=""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한국거래소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(KOREA EXCANGE) </a:t>
              </a:r>
              <a:r>
                <a:rPr lang="ko-KR" altLang="en-US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주식리딩방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투자유의 웹툰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E475A96C-97FA-4D3B-97E6-4C8A3E914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997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B3F17EE-70C8-44A2-9BC5-66A51698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275" y="2853000"/>
            <a:ext cx="3440278" cy="29084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홍보마당 </a:t>
            </a:r>
            <a:r>
              <a:rPr lang="en-US" altLang="ko-KR" dirty="0"/>
              <a:t>- </a:t>
            </a:r>
            <a:r>
              <a:rPr lang="ko-KR" altLang="en-US" dirty="0"/>
              <a:t>금융교육정보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https://www.fsb.or.kr/cosedifprom_0100.act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15. (</a:t>
            </a:r>
            <a:r>
              <a:rPr lang="ko-KR" altLang="en-US"/>
              <a:t>제목 제공</a:t>
            </a:r>
            <a:r>
              <a:rPr lang="en-US" altLang="ko-KR"/>
              <a:t>) </a:t>
            </a:r>
            <a:r>
              <a:rPr lang="ko-KR" altLang="en-US"/>
              <a:t>페이지</a:t>
            </a:r>
            <a:r>
              <a:rPr lang="en-US" altLang="ko-KR"/>
              <a:t>, </a:t>
            </a:r>
            <a:r>
              <a:rPr lang="ko-KR" altLang="en-US"/>
              <a:t>프레임</a:t>
            </a:r>
            <a:r>
              <a:rPr lang="en-US" altLang="ko-KR"/>
              <a:t>, </a:t>
            </a:r>
            <a:r>
              <a:rPr lang="ko-KR" altLang="en-US"/>
              <a:t>콘텐츠 블록에는 적절한 제목을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15-6 </a:t>
            </a:r>
            <a:r>
              <a:rPr lang="ko-KR" altLang="en-US"/>
              <a:t>콘텐츠 블록에 제목을 적절하게 제공하지 않은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7997"/>
          </a:xfrm>
        </p:spPr>
        <p:txBody>
          <a:bodyPr/>
          <a:lstStyle/>
          <a:p>
            <a:r>
              <a:rPr lang="ko-KR" altLang="en-US" dirty="0"/>
              <a:t>콘텐츠 블록의 제목은 콘텐츠의 내용과 일치하는 내용으로 제공해야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718368" y="2853000"/>
            <a:ext cx="2304000" cy="3384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53810" y="2673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3">
            <a:extLst>
              <a:ext uri="{FF2B5EF4-FFF2-40B4-BE49-F238E27FC236}">
                <a16:creationId xmlns:a16="http://schemas.microsoft.com/office/drawing/2014/main" id="{1886378E-7D65-401A-A050-7BC49726B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985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C392EDD-E7D5-45F6-A1E4-71F6A291F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88" y="2995714"/>
            <a:ext cx="4201112" cy="28092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통계현황 </a:t>
            </a:r>
            <a:r>
              <a:rPr lang="en-US" altLang="ko-KR" dirty="0"/>
              <a:t>- </a:t>
            </a:r>
            <a:r>
              <a:rPr lang="ko-KR" altLang="en-US" dirty="0"/>
              <a:t>통계정보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https://www.fsb.or.kr/cosstatfina_0100.act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한 페이지에 같은 이름을 가진 링크가 여러 개 있어 스크린 리더 사용자가 목적지를 혼동할 수 있으므로 각각의 링크에 정확한 이름을 제공하여 개선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8265001" y="3933000"/>
            <a:ext cx="575999" cy="194399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45000" y="3753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1234405"/>
            <a:chOff x="631825" y="4319397"/>
            <a:chExt cx="4104000" cy="123440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FileDown.jsp?SAVE_FILE_NM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=54024004320214212144142.xlsx&amp;amp;ORCP_FILE_NM=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금융통계현황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'21.6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월말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완료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.xlsx&amp;amp;DSTC1=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title="XLSX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class="btn-style09"&gt;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&lt;span&gt;XLSX&lt;/span&gt;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519471"/>
            <a:ext cx="4104000" cy="1369826"/>
            <a:chOff x="631825" y="4319397"/>
            <a:chExt cx="4104000" cy="136982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FileDown.jsp?SAVE_FILE_NM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=54024004320214212144142.xlsx&amp;amp;ORCP_FILE_NM=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금융통계현황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'21.6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월말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완료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.xlsx&amp;amp;DSTC1=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title="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2021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년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6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월말 저축은행 금융통계 현황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XLSX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class="btn-style09"&gt;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	&lt;span&gt;XLSX&lt;/span&gt;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85D1843D-AB9D-4A0B-B0BE-977F05F49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184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83F1F6E-B8D2-41EE-B97A-74C1F7502A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82"/>
          <a:stretch/>
        </p:blipFill>
        <p:spPr>
          <a:xfrm>
            <a:off x="5097000" y="3488440"/>
            <a:ext cx="4201112" cy="17358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FAQ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고객센터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https://www.fsb.or.kr/cosquesfaqs_0100.act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16.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3291"/>
          </a:xfr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</a:p>
          <a:p>
            <a:r>
              <a:rPr lang="ko-KR" altLang="en-US" dirty="0"/>
              <a:t>스크린 리더가 사용할 수 있는 형태로 링크의 상태에 관한 부가 설명을 제공해야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196609" y="4635245"/>
            <a:ext cx="4032871" cy="288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49000" y="446417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401650"/>
            <a:ext cx="4104000" cy="692846"/>
            <a:chOff x="631825" y="4319397"/>
            <a:chExt cx="4104000" cy="69284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48164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="cosquesfaqs_0100.act" class="tab-basic-buttons-item-link" title="FAQ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바로가기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"&gt;FAQ&lt;/a&gt;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572170"/>
            <a:ext cx="4104000" cy="692846"/>
            <a:chOff x="631825" y="4319397"/>
            <a:chExt cx="4104000" cy="69284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48164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="cosquesfaqs_0100.act" class="tab-basic-buttons-item-link"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&gt;FAQ&lt;/a&gt;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80B940A-9B61-47CC-B520-25BFE310530B}"/>
              </a:ext>
            </a:extLst>
          </p:cNvPr>
          <p:cNvGrpSpPr/>
          <p:nvPr/>
        </p:nvGrpSpPr>
        <p:grpSpPr>
          <a:xfrm>
            <a:off x="625727" y="5747843"/>
            <a:ext cx="4104000" cy="557424"/>
            <a:chOff x="631825" y="4319397"/>
            <a:chExt cx="4104000" cy="55742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D68DB6-C9DF-4734-A049-48FE9858830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  <a:r>
                <a:rPr lang="en-US" altLang="ko-KR" sz="900" dirty="0"/>
                <a:t> : JavaScript</a:t>
              </a:r>
              <a:endParaRPr lang="ko-KR" altLang="en-US" sz="900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641B3C0-2DCC-45BD-BD28-3867AAC9BE34}"/>
                </a:ext>
              </a:extLst>
            </p:cNvPr>
            <p:cNvSpPr/>
            <p:nvPr/>
          </p:nvSpPr>
          <p:spPr>
            <a:xfrm>
              <a:off x="631825" y="4530600"/>
              <a:ext cx="4104000" cy="34622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$('.</a:t>
              </a:r>
              <a:r>
                <a:rPr lang="en-US" altLang="ko-KR" sz="800" b="0" i="0" dirty="0">
                  <a:solidFill>
                    <a:srgbClr val="202124"/>
                  </a:solidFill>
                  <a:effectLst/>
                  <a:latin typeface="consolas" panose="020B0609020204030204" pitchFamily="49" charset="0"/>
                </a:rPr>
                <a:t>is-tab-basic-active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').children('a').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attr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('title', '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선택됨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');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0D17EC2-FCFC-4165-B383-8C6C810BED31}"/>
              </a:ext>
            </a:extLst>
          </p:cNvPr>
          <p:cNvSpPr/>
          <p:nvPr/>
        </p:nvSpPr>
        <p:spPr>
          <a:xfrm>
            <a:off x="5961000" y="2599815"/>
            <a:ext cx="2807999" cy="346221"/>
          </a:xfrm>
          <a:prstGeom prst="rect">
            <a:avLst/>
          </a:prstGeom>
          <a:solidFill>
            <a:srgbClr val="F5F6F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탭 공통</a:t>
            </a:r>
          </a:p>
        </p:txBody>
      </p:sp>
      <p:graphicFrame>
        <p:nvGraphicFramePr>
          <p:cNvPr id="27" name="표 13">
            <a:extLst>
              <a:ext uri="{FF2B5EF4-FFF2-40B4-BE49-F238E27FC236}">
                <a16:creationId xmlns:a16="http://schemas.microsoft.com/office/drawing/2014/main" id="{BDBF1CF2-6E75-4828-A801-09F3057B3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349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8591C6A-C1A4-4D1B-813E-93502B644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693" y="3090634"/>
            <a:ext cx="4062613" cy="29084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FAQ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고객센터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https://www.fsb.or.kr/cosquesfaqs_0100.act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한 페이지에 같은 이름을 가진 링크가 여러 개 있어 스크린 리더 사용자가 목적지를 혼동할 수 있으므로 각각의 링크에 정확한 이름을 제공하여 개선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268610" y="3994383"/>
            <a:ext cx="3960567" cy="205929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49000" y="3789777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1505376"/>
            <a:chOff x="631825" y="4319397"/>
            <a:chExt cx="4104000" cy="150537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129417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class="pro-accordion-opener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ui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-accordion-opener"&gt;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"&gt;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열기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en-US" altLang="ko-KR" sz="800" i="0" dirty="0"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&lt;span class="component-layer-close-button-text"&gt;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닫기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925864"/>
            <a:ext cx="4104000" cy="1640670"/>
            <a:chOff x="631825" y="4319397"/>
            <a:chExt cx="4104000" cy="164067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42946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class="pro-accordion-opener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ui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-accordion-opener"&gt;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BIS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비율이 무엇인가요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?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열기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en-US" altLang="ko-KR" sz="800" i="0" dirty="0"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class="component-layer-close-button-text"&gt;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BIS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비율이 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	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무엇인가요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?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닫기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CAF0DCFF-8256-4A36-B0CD-C6C5FF938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032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8A04A16-580F-43CA-9E8B-AF7ABB74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337" y="3594623"/>
            <a:ext cx="4201112" cy="15768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문의하기 </a:t>
            </a:r>
            <a:r>
              <a:rPr lang="en-US" altLang="ko-KR" dirty="0"/>
              <a:t>- </a:t>
            </a:r>
            <a:r>
              <a:rPr lang="ko-KR" altLang="en-US" dirty="0"/>
              <a:t>고객센터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https://www.fsb.or.kr/cosquesinqu_0100.act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링크에 텍스트 또는 이름을 제공하여 보조 기술 사용자도 동등한 정보를 전달받을 수 있도록 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268610" y="3602357"/>
            <a:ext cx="3960567" cy="2160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49000" y="3429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1505376"/>
            <a:chOff x="631825" y="4319397"/>
            <a:chExt cx="4104000" cy="150537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129417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class="pro-accordion-opener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ui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-accordion-opener"&gt;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b="1" i="0" dirty="0" err="1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"&gt;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열기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en-US" altLang="ko-KR" sz="800" i="0" dirty="0"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&lt;span class="component-layer-close-button-text"&gt;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닫기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925864"/>
            <a:ext cx="4104000" cy="1640670"/>
            <a:chOff x="631825" y="4319397"/>
            <a:chExt cx="4104000" cy="164067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42946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class="pro-accordion-opener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ui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-accordion-opener"&gt;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tts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개인정보 수집이용동의 상세내용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열기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algn="ctr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en-US" altLang="ko-KR" sz="800" i="0" dirty="0"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class="component-layer-close-button-text"&gt;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 개인정보 </a:t>
              </a:r>
              <a:endParaRPr lang="en-US" altLang="ko-KR" sz="800" b="1" i="0" dirty="0">
                <a:solidFill>
                  <a:schemeClr val="accent1"/>
                </a:solidFill>
                <a:effectLst/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수집이용동의 상세내용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닫기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F98F1533-5340-4DFC-A8B5-E61C3C46B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79264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8A04A16-580F-43CA-9E8B-AF7ABB74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337" y="3594623"/>
            <a:ext cx="4201112" cy="15768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문의하기 </a:t>
            </a:r>
            <a:r>
              <a:rPr lang="en-US" altLang="ko-KR" dirty="0"/>
              <a:t>- </a:t>
            </a:r>
            <a:r>
              <a:rPr lang="ko-KR" altLang="en-US" dirty="0"/>
              <a:t>고객센터 </a:t>
            </a:r>
            <a:r>
              <a:rPr lang="en-US" altLang="ko-KR" dirty="0"/>
              <a:t>- </a:t>
            </a:r>
            <a:r>
              <a:rPr lang="ko-KR" altLang="en-US" dirty="0"/>
              <a:t>소비자정보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https://www.fsb.or.kr/cosquesinqu_0100.act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9. (</a:t>
            </a:r>
            <a:r>
              <a:rPr lang="ko-KR" altLang="en-US"/>
              <a:t>초점 이동</a:t>
            </a:r>
            <a:r>
              <a:rPr lang="en-US" altLang="ko-KR"/>
              <a:t>) </a:t>
            </a:r>
            <a:r>
              <a:rPr lang="ko-KR" altLang="en-US"/>
              <a:t>키보드에 의한 초점은 논리적으로 이동해야 하며 시각적으로 구별할 수 있어야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9-1 </a:t>
            </a:r>
            <a:r>
              <a:rPr lang="ko-KR" altLang="en-US"/>
              <a:t>초점의 이동순서가 논리적이지 않으며 일관성이 없는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ko-KR" altLang="en-US" dirty="0"/>
              <a:t>시각을 활용하여 웹 페이지를 탐색하는 사용자가 콘텐츠에 접근하는 순서와 동일한 순서로 키보드 초점이 콘텐츠에 접근하도록 수정해야 함</a:t>
            </a:r>
            <a:endParaRPr lang="en-US" altLang="ko-KR" dirty="0"/>
          </a:p>
          <a:p>
            <a:r>
              <a:rPr lang="ko-KR" altLang="en-US" dirty="0"/>
              <a:t>동일한 버튼이 중복 제공되고 있음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268610" y="3602357"/>
            <a:ext cx="3960567" cy="21600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49000" y="3429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1640670"/>
            <a:chOff x="631825" y="4319397"/>
            <a:chExt cx="4104000" cy="164067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142946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&lt;div class="pro-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infoBox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class="component-layer-close-button-text"&gt;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닫기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&lt;span class="component-layer-close-button-text"&gt;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닫기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925864"/>
            <a:ext cx="4104000" cy="1640670"/>
            <a:chOff x="631825" y="4319397"/>
            <a:chExt cx="4104000" cy="164067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42946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&lt;div class="pro-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infoBox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en-US" altLang="ko-KR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 class="component-layer-close-button-text"&gt;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닫기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&lt;button type="button" class="component-layer-close-button"&gt;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&lt;span class="component-layer-close-button-text"&gt; </a:t>
              </a:r>
              <a:r>
                <a:rPr lang="ko-KR" altLang="en-US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닫기</a:t>
              </a: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 i="0" strike="sngStrike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9A9BE818-AF1E-4F8B-85AE-D05086E3F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520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F9E7454-DBFE-4287-9522-F77335061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511" y="2655721"/>
            <a:ext cx="4050223" cy="319930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감사보고서 </a:t>
            </a:r>
            <a:r>
              <a:rPr lang="en-US" altLang="ko-KR" dirty="0"/>
              <a:t>- </a:t>
            </a:r>
            <a:r>
              <a:rPr lang="ko-KR" altLang="en-US" dirty="0"/>
              <a:t>경영공시  </a:t>
            </a:r>
            <a:r>
              <a:rPr lang="en-US" altLang="ko-KR" dirty="0"/>
              <a:t>- </a:t>
            </a:r>
            <a:r>
              <a:rPr lang="ko-KR" altLang="en-US" dirty="0"/>
              <a:t>공시정보 </a:t>
            </a:r>
            <a:r>
              <a:rPr lang="en-US" altLang="ko-KR" dirty="0"/>
              <a:t>- 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https://www.fsb.or.kr/busmagerept_0100.act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한 페이지에 같은 이름을 가진 링크가 여러 개 있어 스크린 리더 사용자가 목적지를 혼동할 수 있으므로 각각의 링크에 정확한 이름을 제공하여 개선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8103243" y="3429001"/>
            <a:ext cx="648001" cy="2088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01000" y="3250691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1234405"/>
            <a:chOff x="631825" y="4319397"/>
            <a:chExt cx="4104000" cy="123440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="#"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title="PDF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class="btn-style09"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location.href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='/view/comm/file/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FileDown.jsp?SAVE_FILE_NM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=59642588520213631182521.pdf&amp;amp;ORCP_FILE_NM=BNK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11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반기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검토보고서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최종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).pdf&amp;amp;DSTC1=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&lt;span&gt;PDF&lt;/span&gt;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654893"/>
            <a:ext cx="4104000" cy="1369826"/>
            <a:chOff x="631825" y="4319397"/>
            <a:chExt cx="4104000" cy="136982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="#" title="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BNK[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본점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] 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제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11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기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분기 검토보고서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PDF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class="btn-style09"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location.href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='/view/comm/file/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FileDown.jsp?SAVE_FILE_NM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=59642588520213631182521.pdf&amp;amp;ORCP_FILE_NM=BNK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저축은행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11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반기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검토보고서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최종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).pdf&amp;amp;DSTC1=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&lt;span&gt;PDF&lt;/span&gt;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032EB56F-5DE5-4580-811F-CEAD542E0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0895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3B735BA6-F94E-4CA3-9969-430F0EF1A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009" y="2807654"/>
            <a:ext cx="4080276" cy="319930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민원건수 공시정보 </a:t>
            </a:r>
            <a:r>
              <a:rPr lang="en-US" altLang="ko-KR" dirty="0"/>
              <a:t>- </a:t>
            </a:r>
            <a:r>
              <a:rPr lang="ko-KR" altLang="en-US" dirty="0"/>
              <a:t>소비자공시  </a:t>
            </a:r>
            <a:r>
              <a:rPr lang="en-US" altLang="ko-KR" dirty="0"/>
              <a:t>- </a:t>
            </a:r>
            <a:r>
              <a:rPr lang="ko-KR" altLang="en-US" dirty="0"/>
              <a:t>공시정보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https://www.fsb.or.kr/busconspeti_0100.act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한 페이지에 같은 이름을 가진 링크가 여러 개 있어 스크린 리더 사용자가 목적지를 혼동할 수 있으므로 각각의 링크에 정확한 이름을 제공하여 개선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7902597" y="3039488"/>
            <a:ext cx="648001" cy="259280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57000" y="2844628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828268"/>
            <a:chOff x="631825" y="4319397"/>
            <a:chExt cx="4104000" cy="82826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61706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="https://www.jtchinae-bank.co.kr/customer/complaintReport.do" target="_blank" class="btn-style01 style01"&gt;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보기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248756"/>
            <a:ext cx="4104000" cy="828268"/>
            <a:chOff x="631825" y="4319397"/>
            <a:chExt cx="4104000" cy="82826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61706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="https://www.jtchinae-bank.co.kr/customer/complaintReport.do" target="_blank" class="btn-style01 style01"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title="JT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친애저축은행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보기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619EB7FB-2DDA-403D-8613-6D80FAD1F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864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A71763F-C407-4360-A449-041DF94D7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239" y="3389073"/>
            <a:ext cx="4201112" cy="191192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민원분쟁 소제기현황 </a:t>
            </a:r>
            <a:r>
              <a:rPr lang="en-US" altLang="ko-KR" dirty="0"/>
              <a:t>- </a:t>
            </a:r>
            <a:r>
              <a:rPr lang="ko-KR" altLang="en-US" dirty="0"/>
              <a:t>소비자공시  </a:t>
            </a:r>
            <a:r>
              <a:rPr lang="en-US" altLang="ko-KR" dirty="0"/>
              <a:t>- </a:t>
            </a:r>
            <a:r>
              <a:rPr lang="ko-KR" altLang="en-US" dirty="0"/>
              <a:t>공시정보 </a:t>
            </a:r>
            <a:r>
              <a:rPr lang="en-US" altLang="ko-KR" dirty="0"/>
              <a:t>- </a:t>
            </a:r>
            <a:r>
              <a:rPr lang="ko-KR" altLang="en-US" dirty="0"/>
              <a:t>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https://www.fsb.or.kr/busconschar_0100.act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한 페이지에 같은 이름을 가진 링크가 여러 개 있어 스크린 리더 사용자가 목적지를 혼동할 수 있으므로 각각의 링크에 정확한 이름을 제공하여 개선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8265000" y="4077000"/>
            <a:ext cx="648000" cy="1224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45000" y="3867756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963561"/>
            <a:chOff x="631825" y="4319397"/>
            <a:chExt cx="4104000" cy="96356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="#"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title="XLSX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class="btn-style09"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location.href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='/view/comm/file/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FileDown.jsp?SAVE_FILE_NM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=8184885462021451154718.xlsx&amp;amp;ORCP_FILE_NM=2021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년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_3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분기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(1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월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_9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월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).xlsx&amp;amp;DSTC1=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'"&gt;&lt;span&gt;XLSX&lt;/span&gt;&lt;/a&gt;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384049"/>
            <a:ext cx="4104000" cy="1098983"/>
            <a:chOff x="631825" y="4319397"/>
            <a:chExt cx="4104000" cy="109898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="#" title="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2021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년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분기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(1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월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~9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월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민원분쟁 소제기 현황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XLSX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class="btn-style09"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location.href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='/view/comm/file/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FileDown.jsp?SAVE_FILE_NM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=8184885462021451154718.xlsx&amp;amp;ORCP_FILE_NM=2021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년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_3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분기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(1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월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_9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월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).xlsx&amp;amp;DSTC1=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'"&gt;&lt;span&gt;XLSX&lt;/span&gt;&lt;/a&gt;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080689C3-4927-4552-B9E2-8682FD398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0528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DA77606-EF7C-43C7-BA5F-10095E7EC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141" y="2781000"/>
            <a:ext cx="3982813" cy="319930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금융사지배구조법공시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기타공시 </a:t>
            </a:r>
            <a:r>
              <a:rPr lang="en-US" altLang="ko-KR" dirty="0"/>
              <a:t>- </a:t>
            </a:r>
            <a:r>
              <a:rPr lang="ko-KR" altLang="en-US" dirty="0"/>
              <a:t>공시정보 </a:t>
            </a:r>
            <a:r>
              <a:rPr lang="en-US" altLang="ko-KR" dirty="0"/>
              <a:t>-</a:t>
            </a:r>
            <a:r>
              <a:rPr lang="ko-KR" altLang="en-US" dirty="0"/>
              <a:t> 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https://www.fsb.or.kr/busothepers_0100.act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16.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한 페이지에 같은 이름을 가진 링크가 여러 개 있어 스크린 리더 사용자가 목적지를 혼동할 수 있으므로 각각의 링크에 정확한 이름을 제공하여 개선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8193000" y="3499310"/>
            <a:ext cx="648001" cy="2088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28602" y="3321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963689"/>
            <a:chOff x="631825" y="4319397"/>
            <a:chExt cx="4104000" cy="96368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752486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javascript:void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(0)" 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title="PDF </a:t>
              </a:r>
              <a:r>
                <a:rPr lang="ko-KR" altLang="en-US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 i="0" dirty="0">
                  <a:solidFill>
                    <a:schemeClr val="accent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class="btn-style09"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location.href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='/view/comm/file/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FileDown.jsp?SAVE_FILE_NM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=5933233712021469164923.pdf&amp;amp;ORCP_FILE_NM=OSB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임원 선임 공시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_20211109.pdf&amp;amp;DSTC1=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'"&gt;&lt;span&gt;PDF&lt;/span&gt;&lt;/a&gt;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654893"/>
            <a:ext cx="4104000" cy="1099111"/>
            <a:chOff x="631825" y="4319397"/>
            <a:chExt cx="4104000" cy="109911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88790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&lt;a 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javascript:void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(0)" title="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OSB[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본점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] 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임원 선임 공시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PDF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다운로드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class="btn-style09" onclick="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location.href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='/view/comm/file/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FileDown.jsp?SAVE_FILE_NM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=5933233712021469164923.pdf&amp;amp;ORCP_FILE_NM=OSB 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임원 선임 공시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_20211109.pdf&amp;amp;DSTC1=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fsb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'"&gt;&lt;span&gt;PDF&lt;/span&gt;&lt;/a&gt;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6B029214-F2D0-4D73-8725-30C58A34C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7443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FA10501-21EA-47E2-BBDA-6F8A8B6BC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68" y="4005000"/>
            <a:ext cx="3640476" cy="71518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상세 진단 결과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검색결과 </a:t>
            </a:r>
            <a:r>
              <a:rPr lang="en-US" altLang="ko-KR" dirty="0"/>
              <a:t>- </a:t>
            </a:r>
            <a:r>
              <a:rPr lang="ko-KR" altLang="en-US" dirty="0"/>
              <a:t> 저축은행중앙회 </a:t>
            </a:r>
            <a:r>
              <a:rPr lang="ko-KR" altLang="en-US" dirty="0" err="1"/>
              <a:t>소비자포털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https://www.fsb.or.kr/comoser_0101.act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21. (</a:t>
            </a:r>
            <a:r>
              <a:rPr lang="ko-KR" altLang="en-US"/>
              <a:t>레이블 제공</a:t>
            </a:r>
            <a:r>
              <a:rPr lang="en-US" altLang="ko-KR"/>
              <a:t>) </a:t>
            </a:r>
            <a:r>
              <a:rPr lang="ko-KR" altLang="en-US"/>
              <a:t>입력 서식에는 대응하는 레이블을 제공해야 한다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21-1 &lt;input&gt;, &lt;textarea&gt;, &lt;select&gt; </a:t>
            </a:r>
            <a:r>
              <a:rPr lang="ko-KR" altLang="en-US"/>
              <a:t>요소에 </a:t>
            </a:r>
            <a:r>
              <a:rPr lang="en-US" altLang="ko-KR"/>
              <a:t>1:1 </a:t>
            </a:r>
            <a:r>
              <a:rPr lang="ko-KR" altLang="en-US"/>
              <a:t>대응하는 </a:t>
            </a:r>
            <a:r>
              <a:rPr lang="en-US" altLang="ko-KR"/>
              <a:t>&lt;label&gt;</a:t>
            </a:r>
            <a:r>
              <a:rPr lang="ko-KR" altLang="en-US"/>
              <a:t>요소 또는 </a:t>
            </a:r>
            <a:r>
              <a:rPr lang="en-US" altLang="ko-KR"/>
              <a:t>title </a:t>
            </a:r>
            <a:r>
              <a:rPr lang="ko-KR" altLang="en-US"/>
              <a:t>속성을 제공하지 않거나 설명이 적절하지 않은 경우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 dirty="0"/>
              <a:t>입력 서식에는 스크린 리더 사용자가 용도를 확인할 수 있는 이름</a:t>
            </a:r>
            <a:r>
              <a:rPr lang="en-US" altLang="ko-KR" dirty="0"/>
              <a:t>/</a:t>
            </a:r>
            <a:r>
              <a:rPr lang="ko-KR" altLang="en-US" dirty="0"/>
              <a:t>설명을 제공해야 함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548491-39D0-4602-9E1C-B301F791FAF3}"/>
              </a:ext>
            </a:extLst>
          </p:cNvPr>
          <p:cNvSpPr/>
          <p:nvPr/>
        </p:nvSpPr>
        <p:spPr>
          <a:xfrm>
            <a:off x="5398769" y="4113334"/>
            <a:ext cx="3298232" cy="46766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0DFE48B-F5EE-44DA-99D9-4EF3230C9B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33000" y="389700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99F005B-86C2-425C-8E60-62D8E3D30EBF}"/>
              </a:ext>
            </a:extLst>
          </p:cNvPr>
          <p:cNvGrpSpPr/>
          <p:nvPr/>
        </p:nvGrpSpPr>
        <p:grpSpPr>
          <a:xfrm>
            <a:off x="632129" y="3039488"/>
            <a:ext cx="4104000" cy="692846"/>
            <a:chOff x="631825" y="4319397"/>
            <a:chExt cx="4104000" cy="69284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D62D6D-CC5B-4F54-96A8-6DC5B380E747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50107C2-8272-4337-A005-7D946213CF46}"/>
                </a:ext>
              </a:extLst>
            </p:cNvPr>
            <p:cNvSpPr/>
            <p:nvPr/>
          </p:nvSpPr>
          <p:spPr>
            <a:xfrm>
              <a:off x="631825" y="4530600"/>
              <a:ext cx="4104000" cy="48164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&lt;input type="text" class="input-text" name="SEARCHTEXT" id="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pageSchBox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value="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적금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placeholder="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검색어를 입력해주세요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."&gt;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3C7F0D-8BA5-4F48-9530-CBAD022A1DA3}"/>
              </a:ext>
            </a:extLst>
          </p:cNvPr>
          <p:cNvGrpSpPr/>
          <p:nvPr/>
        </p:nvGrpSpPr>
        <p:grpSpPr>
          <a:xfrm>
            <a:off x="632129" y="4113334"/>
            <a:ext cx="4104000" cy="828140"/>
            <a:chOff x="631825" y="4319397"/>
            <a:chExt cx="4104000" cy="82814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419A83-C998-412D-9080-E71574CC4FEC}"/>
                </a:ext>
              </a:extLst>
            </p:cNvPr>
            <p:cNvSpPr txBox="1"/>
            <p:nvPr/>
          </p:nvSpPr>
          <p:spPr>
            <a:xfrm>
              <a:off x="632129" y="4319397"/>
              <a:ext cx="2520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4BCA27-B023-4B2E-883F-02119A95604A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&lt;input type="text" class="input-text" name="SEARCHTEXT" id="</a:t>
              </a:r>
              <a:r>
                <a:rPr lang="en-US" altLang="ko-KR" sz="800" i="0" dirty="0" err="1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pageSchBox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value="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적금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" placeholder="</a:t>
              </a:r>
              <a:r>
                <a:rPr lang="ko-KR" altLang="en-US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검색어를 입력해주세요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." 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title="</a:t>
              </a:r>
              <a:r>
                <a:rPr lang="ko-KR" altLang="en-US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검색어 입력</a:t>
              </a:r>
              <a:r>
                <a:rPr lang="en-US" altLang="ko-KR" sz="800" b="1" i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ko-KR" sz="80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altLang="ko-KR" sz="800" b="1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aphicFrame>
        <p:nvGraphicFramePr>
          <p:cNvPr id="18" name="표 13">
            <a:extLst>
              <a:ext uri="{FF2B5EF4-FFF2-40B4-BE49-F238E27FC236}">
                <a16:creationId xmlns:a16="http://schemas.microsoft.com/office/drawing/2014/main" id="{CFC9BF06-4E9E-4333-A4B0-86F8C7280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30566"/>
              </p:ext>
            </p:extLst>
          </p:nvPr>
        </p:nvGraphicFramePr>
        <p:xfrm>
          <a:off x="7404200" y="6352102"/>
          <a:ext cx="2506707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569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835569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52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처리예정일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처리현황</a:t>
                      </a: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52143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100584" marR="100584" marT="50292" marB="5029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386203"/>
      </p:ext>
    </p:extLst>
  </p:cSld>
  <p:clrMapOvr>
    <a:masterClrMapping/>
  </p:clrMapOvr>
</p:sld>
</file>

<file path=ppt/theme/theme1.xml><?xml version="1.0" encoding="utf-8"?>
<a:theme xmlns:a="http://schemas.openxmlformats.org/drawingml/2006/main" name="웹 접근성 컨설팅_part2">
  <a:themeElements>
    <a:clrScheme name="SNC LAB">
      <a:dk1>
        <a:srgbClr val="000000"/>
      </a:dk1>
      <a:lt1>
        <a:srgbClr val="FFFFFF"/>
      </a:lt1>
      <a:dk2>
        <a:srgbClr val="003764"/>
      </a:dk2>
      <a:lt2>
        <a:srgbClr val="F2F2F2"/>
      </a:lt2>
      <a:accent1>
        <a:srgbClr val="0061B0"/>
      </a:accent1>
      <a:accent2>
        <a:srgbClr val="00B0F0"/>
      </a:accent2>
      <a:accent3>
        <a:srgbClr val="F37321"/>
      </a:accent3>
      <a:accent4>
        <a:srgbClr val="B06B00"/>
      </a:accent4>
      <a:accent5>
        <a:srgbClr val="D83933"/>
      </a:accent5>
      <a:accent6>
        <a:srgbClr val="067067"/>
      </a:accent6>
      <a:hlink>
        <a:srgbClr val="000080"/>
      </a:hlink>
      <a:folHlink>
        <a:srgbClr val="954F72"/>
      </a:folHlink>
    </a:clrScheme>
    <a:fontScheme name="Spoqa Han Sans Neo">
      <a:majorFont>
        <a:latin typeface="Spoqa Han Sans Neo Bold"/>
        <a:ea typeface="Spoqa Han Sans Neo Bold"/>
        <a:cs typeface=""/>
      </a:majorFont>
      <a:minorFont>
        <a:latin typeface="Spoqa Han Sans Neo Regular"/>
        <a:ea typeface="Spoqa Han Sans Neo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5F6F8"/>
        </a:solidFill>
        <a:ln w="3175">
          <a:noFill/>
        </a:ln>
      </a:spPr>
      <a:bodyPr wrap="square" lIns="144000" tIns="108000" rIns="144000" bIns="108000" rtlCol="0" anchor="t">
        <a:spAutoFit/>
      </a:bodyPr>
      <a:lstStyle>
        <a:defPPr algn="l" defTabSz="144000">
          <a:lnSpc>
            <a:spcPct val="110000"/>
          </a:lnSpc>
          <a:defRPr sz="800" dirty="0" smtClean="0">
            <a:solidFill>
              <a:schemeClr val="tx1">
                <a:lumMod val="95000"/>
                <a:lumOff val="5000"/>
              </a:schemeClr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5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72000" rtlCol="0">
        <a:spAutoFit/>
      </a:bodyPr>
      <a:lstStyle>
        <a:defPPr algn="l">
          <a:defRPr sz="9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13294</TotalTime>
  <Words>8007</Words>
  <Application>Microsoft Office PowerPoint</Application>
  <PresentationFormat>A4 용지(210x297mm)</PresentationFormat>
  <Paragraphs>821</Paragraphs>
  <Slides>45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1" baseType="lpstr">
      <vt:lpstr>Spoqa Han Sans Neo Regular</vt:lpstr>
      <vt:lpstr>맑은 고딕</vt:lpstr>
      <vt:lpstr>Arial</vt:lpstr>
      <vt:lpstr>consolas</vt:lpstr>
      <vt:lpstr>consolas</vt:lpstr>
      <vt:lpstr>웹 접근성 컨설팅_part2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  <vt:lpstr>2. 상세 진단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Giyeon</dc:creator>
  <cp:lastModifiedBy>최두성</cp:lastModifiedBy>
  <cp:revision>4432</cp:revision>
  <cp:lastPrinted>2021-01-31T23:42:00Z</cp:lastPrinted>
  <dcterms:created xsi:type="dcterms:W3CDTF">2020-06-17T00:04:22Z</dcterms:created>
  <dcterms:modified xsi:type="dcterms:W3CDTF">2025-10-01T02:28:59Z</dcterms:modified>
</cp:coreProperties>
</file>